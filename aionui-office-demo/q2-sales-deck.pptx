
<file path=[Content_Types].xml><?xml version="1.0" encoding="utf-8"?>
<Types xmlns="http://schemas.openxmlformats.org/package/2006/content-types">
  <Default Extension="glb" ContentType="model/gltf.binary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87"/>
    <p:restoredTop sz="94631"/>
  </p:normalViewPr>
  <p:slideViewPr>
    <p:cSldViewPr snapToGrid="0" showGuides="1">
      <p:cViewPr varScale="1">
        <p:scale>
          <a:sx n="144" d="100"/>
          <a:sy n="144" d="100"/>
        </p:scale>
        <p:origin x="600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销售额(元)</c:v>
          </c:tx>
          <c:spPr>
            <a:solidFill>
              <a:srgbClr val="00E5FF"/>
            </a:solidFill>
          </c:spPr>
          <c:invertIfNegative val="0"/>
          <c:cat>
            <c:strLit>
              <c:ptCount val="3"/>
              <c:pt idx="0">
                <c:v>4月</c:v>
              </c:pt>
              <c:pt idx="1">
                <c:v>5月</c:v>
              </c:pt>
              <c:pt idx="2">
                <c:v>6月</c:v>
              </c:pt>
            </c:strLit>
          </c:cat>
          <c:val>
            <c:numLit>
              <c:formatCode>General</c:formatCode>
              <c:ptCount val="3"/>
              <c:pt idx="0">
                <c:v>126619</c:v>
              </c:pt>
              <c:pt idx="1">
                <c:v>136305</c:v>
              </c:pt>
              <c:pt idx="2">
                <c:v>152994</c:v>
              </c:pt>
            </c:numLit>
          </c:val>
          <c:extLst>
            <c:ext xmlns:c16="http://schemas.microsoft.com/office/drawing/2014/chart" uri="{C3380CC4-5D6E-409C-BE32-E72D297353CC}">
              <c16:uniqueId val="{00000000-8D83-9B49-903C-542B7E7738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>
          <a:solidFill>
            <a:schemeClr val="bg1"/>
          </a:solidFill>
        </a:defRPr>
      </a:pPr>
      <a:endParaRPr lang="zh-CN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销售额(元)</c:v>
          </c:tx>
          <c:spPr>
            <a:solidFill>
              <a:srgbClr val="00E5FF"/>
            </a:solidFill>
          </c:spPr>
          <c:invertIfNegative val="0"/>
          <c:cat>
            <c:strLit>
              <c:ptCount val="6"/>
              <c:pt idx="0">
                <c:v>广州</c:v>
              </c:pt>
              <c:pt idx="1">
                <c:v>北京</c:v>
              </c:pt>
              <c:pt idx="2">
                <c:v>成都</c:v>
              </c:pt>
              <c:pt idx="3">
                <c:v>杭州</c:v>
              </c:pt>
              <c:pt idx="4">
                <c:v>上海</c:v>
              </c:pt>
              <c:pt idx="5">
                <c:v>深圳</c:v>
              </c:pt>
            </c:strLit>
          </c:cat>
          <c:val>
            <c:numLit>
              <c:formatCode>General</c:formatCode>
              <c:ptCount val="6"/>
              <c:pt idx="0">
                <c:v>50064</c:v>
              </c:pt>
              <c:pt idx="1">
                <c:v>62653</c:v>
              </c:pt>
              <c:pt idx="2">
                <c:v>70054</c:v>
              </c:pt>
              <c:pt idx="3">
                <c:v>72348</c:v>
              </c:pt>
              <c:pt idx="4">
                <c:v>74257</c:v>
              </c:pt>
              <c:pt idx="5">
                <c:v>86542</c:v>
              </c:pt>
            </c:numLit>
          </c:val>
          <c:extLst>
            <c:ext xmlns:c16="http://schemas.microsoft.com/office/drawing/2014/chart" uri="{C3380CC4-5D6E-409C-BE32-E72D297353CC}">
              <c16:uniqueId val="{00000000-85EA-9F47-A9AA-15095C9F07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>
          <a:solidFill>
            <a:schemeClr val="bg1"/>
          </a:solidFill>
        </a:defRPr>
      </a:pPr>
      <a:endParaRPr lang="zh-CN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v>占比</c:v>
          </c:tx>
          <c:dPt>
            <c:idx val="0"/>
            <c:bubble3D val="0"/>
            <c:spPr>
              <a:solidFill>
                <a:srgbClr val="00E5FF"/>
              </a:solidFill>
            </c:spPr>
            <c:extLst>
              <c:ext xmlns:c16="http://schemas.microsoft.com/office/drawing/2014/chart" uri="{C3380CC4-5D6E-409C-BE32-E72D297353CC}">
                <c16:uniqueId val="{00000001-B3A6-E041-B6A3-0E062585194D}"/>
              </c:ext>
            </c:extLst>
          </c:dPt>
          <c:dPt>
            <c:idx val="1"/>
            <c:bubble3D val="0"/>
            <c:spPr>
              <a:solidFill>
                <a:srgbClr val="4DD0E1"/>
              </a:solidFill>
            </c:spPr>
            <c:extLst>
              <c:ext xmlns:c16="http://schemas.microsoft.com/office/drawing/2014/chart" uri="{C3380CC4-5D6E-409C-BE32-E72D297353CC}">
                <c16:uniqueId val="{00000003-B3A6-E041-B6A3-0E062585194D}"/>
              </c:ext>
            </c:extLst>
          </c:dPt>
          <c:dPt>
            <c:idx val="2"/>
            <c:bubble3D val="0"/>
            <c:spPr>
              <a:solidFill>
                <a:srgbClr val="0F3460"/>
              </a:solidFill>
            </c:spPr>
            <c:extLst>
              <c:ext xmlns:c16="http://schemas.microsoft.com/office/drawing/2014/chart" uri="{C3380CC4-5D6E-409C-BE32-E72D297353CC}">
                <c16:uniqueId val="{00000005-B3A6-E041-B6A3-0E062585194D}"/>
              </c:ext>
            </c:extLst>
          </c:dPt>
          <c:dPt>
            <c:idx val="3"/>
            <c:bubble3D val="0"/>
            <c:spPr>
              <a:solidFill>
                <a:srgbClr val="3A6EA5"/>
              </a:solidFill>
            </c:spPr>
            <c:extLst>
              <c:ext xmlns:c16="http://schemas.microsoft.com/office/drawing/2014/chart" uri="{C3380CC4-5D6E-409C-BE32-E72D297353CC}">
                <c16:uniqueId val="{00000007-B3A6-E041-B6A3-0E062585194D}"/>
              </c:ext>
            </c:extLst>
          </c:dPt>
          <c:dPt>
            <c:idx val="4"/>
            <c:bubble3D val="0"/>
            <c:spPr>
              <a:solidFill>
                <a:srgbClr val="FF6B6B"/>
              </a:solidFill>
            </c:spPr>
            <c:extLst>
              <c:ext xmlns:c16="http://schemas.microsoft.com/office/drawing/2014/chart" uri="{C3380CC4-5D6E-409C-BE32-E72D297353CC}">
                <c16:uniqueId val="{00000009-B3A6-E041-B6A3-0E062585194D}"/>
              </c:ext>
            </c:extLst>
          </c:dPt>
          <c:cat>
            <c:strLit>
              <c:ptCount val="5"/>
              <c:pt idx="0">
                <c:v>天猫</c:v>
              </c:pt>
              <c:pt idx="1">
                <c:v>线下门店</c:v>
              </c:pt>
              <c:pt idx="2">
                <c:v>官网</c:v>
              </c:pt>
              <c:pt idx="3">
                <c:v>京东</c:v>
              </c:pt>
              <c:pt idx="4">
                <c:v>抖音</c:v>
              </c:pt>
            </c:strLit>
          </c:cat>
          <c:val>
            <c:numLit>
              <c:formatCode>General</c:formatCode>
              <c:ptCount val="5"/>
              <c:pt idx="0">
                <c:v>24.9</c:v>
              </c:pt>
              <c:pt idx="1">
                <c:v>22.2</c:v>
              </c:pt>
              <c:pt idx="2">
                <c:v>19.7</c:v>
              </c:pt>
              <c:pt idx="3">
                <c:v>17.100000000000001</c:v>
              </c:pt>
              <c:pt idx="4">
                <c:v>16.100000000000001</c:v>
              </c:pt>
            </c:numLit>
          </c:val>
          <c:extLst>
            <c:ext xmlns:c16="http://schemas.microsoft.com/office/drawing/2014/chart" uri="{C3380CC4-5D6E-409C-BE32-E72D297353CC}">
              <c16:uniqueId val="{0000000A-B3A6-E041-B6A3-0E06258519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>
              <a:solidFill>
                <a:schemeClr val="bg1"/>
              </a:solidFill>
            </a:defRPr>
          </a:pPr>
          <a:endParaRPr lang="zh-CN"/>
        </a:p>
      </c:txPr>
    </c:legend>
    <c:plotVisOnly val="1"/>
    <c:dispBlanksAs val="gap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  <a:t>7/30/26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开场：星河科技销售部 2026 年第二季度销售分析报告，数据周期为 4 月 1 日至 6 月 30 日。本次汇报围绕业绩总览、结构洞察、问题与 Q3 目标展开。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Q2 实现总销售额 415,918 元，累计成交 180 笔，客单价约 2,311 元，商品销售总量 282 件。四个核心指标全面稳健，为后续结构分析奠定基础。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Q2 各月销售额持续攀升：4月 126,619 元，5月 136,305 元（环比+7.6%），6月 152,994 元（环比+12.2%）。季度内累计增长 20.8%，需求端稳步向好、季末冲量效果显著。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Q2 六大重点城市合计贡献 415,918 元。深圳以 86,542 元居首，占 20.8%；上海、杭州、成都构成第二梯队；北京、广州相对靠后，广州仅为深圳的 57.8%，市场潜力尚未释放。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从客单价看，上海(2,652)与深圳(2,473)显著高于均值，高价家居渗透良好；成都、广州偏低，以中低价数码家电为主。深圳销售额领先主要由家电品类拉动，区域品类结构差异明显。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Q2 五大渠道分布相对均衡。天猫以 103,624 元(24.9%)稳居第一，线下门店(22.2%)紧随；官网、京东居中，抖音体量最小但具增长潜力。线上合计 77.8%，线下 22.2% 仍是高客单价体验的重要场景。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从品类看，家居类以 235,185 元贡献全季 56.5%，是绝对核心品类；家电(22.2%)与数码(21.3%)体量接近，共同构成第二支柱。结构较集中，为下一页冠军单品做铺垫。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单品层面，人体工学椅一枝独秀，实现销售额 165,213 元，占全季 39.7%，是当之无愧的销量与销售额双料冠军。此处以 3D 模型正面展示该明星产品。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人体工学椅售出 87 件、成交 52 笔，销售额占比 39.7%。3D 模型旋转至侧后视角，多角度展示明星产品的造型细节。需注意：单品占比过高也意味着业绩结构集中、抗风险能力偏弱。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四大问题：业绩结构过度集中、区域发展不均衡、退款与赠品损耗约 9%、低价单品拉低效率。对应四条建议：优化品类结构、激活弱势区域、控制损耗、放大高效渠道，为 Q3 增长扫清障碍。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Q3 三大目标逐个弹出：一，季度销售额突破 45 万元，把握暑期与开学季冲量；二，广州销售额环比增长 15% 以上，激活弱势区域；三，抖音渠道加大内容种草与直播投入，培育增量。延续 Q2 逐月增长动能，冲刺季度新高。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!!scene-glow"/>
          <p:cNvSpPr/>
          <p:nvPr/>
        </p:nvSpPr>
        <p:spPr>
          <a:xfrm>
            <a:off x="3960000" y="1260000"/>
            <a:ext cx="4320000" cy="4320000"/>
          </a:xfrm>
          <a:prstGeom prst="ellipse">
            <a:avLst/>
          </a:prstGeom>
          <a:solidFill>
            <a:srgbClr val="00E5FF">
              <a:alpha val="22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01" name="!!scene-band"/>
          <p:cNvSpPr/>
          <p:nvPr/>
        </p:nvSpPr>
        <p:spPr>
          <a:xfrm>
            <a:off x="0" y="6192000"/>
            <a:ext cx="12193200" cy="66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02" name="!!scene-dot"/>
          <p:cNvSpPr/>
          <p:nvPr/>
        </p:nvSpPr>
        <p:spPr>
          <a:xfrm>
            <a:off x="10440000" y="5580000"/>
            <a:ext cx="324000" cy="324000"/>
          </a:xfrm>
          <a:prstGeom prst="ellipse">
            <a:avLst/>
          </a:prstGeom>
          <a:solidFill>
            <a:srgbClr val="4DD0E1">
              <a:alpha val="8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03" name="!!scene-accent"/>
          <p:cNvSpPr/>
          <p:nvPr/>
        </p:nvSpPr>
        <p:spPr>
          <a:xfrm>
            <a:off x="792000" y="2160000"/>
            <a:ext cx="100800" cy="2520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05" name="#s1-title"/>
          <p:cNvSpPr txBox="1"/>
          <p:nvPr/>
        </p:nvSpPr>
        <p:spPr>
          <a:xfrm>
            <a:off x="900000" y="2160000"/>
            <a:ext cx="10440000" cy="108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  <a:ea typeface="Arial"/>
              </a:rPr>
              <a:t>2026 Q2 销售分析报告</a:t>
            </a:r>
          </a:p>
        </p:txBody>
      </p:sp>
      <p:sp>
        <p:nvSpPr>
          <p:cNvPr id="100006" name="#s1-sub"/>
          <p:cNvSpPr txBox="1"/>
          <p:nvPr/>
        </p:nvSpPr>
        <p:spPr>
          <a:xfrm>
            <a:off x="900000" y="3456000"/>
            <a:ext cx="10440000" cy="50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2600" b="0">
                <a:solidFill>
                  <a:srgbClr val="4DD0E1"/>
                </a:solidFill>
                <a:latin typeface="Arial"/>
                <a:ea typeface="Arial"/>
              </a:rPr>
              <a:t>Q2 Sales Analysis Report</a:t>
            </a:r>
          </a:p>
        </p:txBody>
      </p:sp>
      <p:sp>
        <p:nvSpPr>
          <p:cNvPr id="100007" name="#s1-meta"/>
          <p:cNvSpPr txBox="1"/>
          <p:nvPr/>
        </p:nvSpPr>
        <p:spPr>
          <a:xfrm>
            <a:off x="900000" y="5544000"/>
            <a:ext cx="1044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600" b="0">
                <a:solidFill>
                  <a:srgbClr val="8FA3C8"/>
                </a:solidFill>
                <a:latin typeface="Arial"/>
                <a:ea typeface="Arial"/>
              </a:rPr>
              <a:t>星河科技销售部     数据周期：2026.04.01 — 06.30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0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05" grpId="0"/>
      <p:bldP spid="100006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8" name="!!scene-glow"/>
          <p:cNvSpPr/>
          <p:nvPr/>
        </p:nvSpPr>
        <p:spPr>
          <a:xfrm>
            <a:off x="9000000" y="540000"/>
            <a:ext cx="3240000" cy="3240000"/>
          </a:xfrm>
          <a:prstGeom prst="ellipse">
            <a:avLst/>
          </a:prstGeom>
          <a:solidFill>
            <a:srgbClr val="00E5FF">
              <a:alpha val="18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09" name="!!scene-band"/>
          <p:cNvSpPr/>
          <p:nvPr/>
        </p:nvSpPr>
        <p:spPr>
          <a:xfrm>
            <a:off x="0" y="6192000"/>
            <a:ext cx="12193200" cy="66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10" name="!!scene-dot"/>
          <p:cNvSpPr/>
          <p:nvPr/>
        </p:nvSpPr>
        <p:spPr>
          <a:xfrm>
            <a:off x="1080000" y="5580000"/>
            <a:ext cx="324000" cy="324000"/>
          </a:xfrm>
          <a:prstGeom prst="ellipse">
            <a:avLst/>
          </a:prstGeom>
          <a:solidFill>
            <a:srgbClr val="4DD0E1">
              <a:alpha val="8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11" name="!!scene-accent"/>
          <p:cNvSpPr/>
          <p:nvPr/>
        </p:nvSpPr>
        <p:spPr>
          <a:xfrm>
            <a:off x="792000" y="1224000"/>
            <a:ext cx="100800" cy="1080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12" name="!!#s2-title"/>
          <p:cNvSpPr txBox="1"/>
          <p:nvPr/>
        </p:nvSpPr>
        <p:spPr>
          <a:xfrm>
            <a:off x="900000" y="576000"/>
            <a:ext cx="7200000" cy="57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rial"/>
                <a:ea typeface="Arial"/>
              </a:rPr>
              <a:t>一 · 业绩总览</a:t>
            </a:r>
          </a:p>
        </p:txBody>
      </p:sp>
      <p:sp>
        <p:nvSpPr>
          <p:cNvPr id="100013" name="!!#s2-lead"/>
          <p:cNvSpPr txBox="1"/>
          <p:nvPr/>
        </p:nvSpPr>
        <p:spPr>
          <a:xfrm>
            <a:off x="900000" y="126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600" b="0">
                <a:solidFill>
                  <a:srgbClr val="8FA3C8"/>
                </a:solidFill>
                <a:latin typeface="Arial"/>
                <a:ea typeface="Arial"/>
              </a:rPr>
              <a:t>Q2 整体业绩逐月稳步增长，季末月表现最强</a:t>
            </a:r>
          </a:p>
        </p:txBody>
      </p:sp>
      <p:sp>
        <p:nvSpPr>
          <p:cNvPr id="100014" name="!!#s2-card0"/>
          <p:cNvSpPr/>
          <p:nvPr/>
        </p:nvSpPr>
        <p:spPr>
          <a:xfrm>
            <a:off x="900000" y="2232000"/>
            <a:ext cx="2268000" cy="2952000"/>
          </a:xfrm>
          <a:prstGeom prst="roundRect">
            <a:avLst/>
          </a:prstGeom>
          <a:solidFill>
            <a:srgbClr val="16213E"/>
          </a:solidFill>
          <a:ln>
            <a:solidFill>
              <a:srgbClr val="00E5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15" name="!!#s2-clab0"/>
          <p:cNvSpPr txBox="1"/>
          <p:nvPr/>
        </p:nvSpPr>
        <p:spPr>
          <a:xfrm>
            <a:off x="900000" y="2592000"/>
            <a:ext cx="2268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700" b="1">
                <a:solidFill>
                  <a:srgbClr val="4DD0E1"/>
                </a:solidFill>
                <a:latin typeface="Arial"/>
                <a:ea typeface="Arial"/>
              </a:rPr>
              <a:t>总销售额</a:t>
            </a:r>
          </a:p>
        </p:txBody>
      </p:sp>
      <p:sp>
        <p:nvSpPr>
          <p:cNvPr id="100016" name="!!#s2-cnum0"/>
          <p:cNvSpPr txBox="1"/>
          <p:nvPr/>
        </p:nvSpPr>
        <p:spPr>
          <a:xfrm>
            <a:off x="900000" y="3240000"/>
            <a:ext cx="2268000" cy="936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Arial"/>
                <a:ea typeface="Arial"/>
              </a:rPr>
              <a:t>415,918</a:t>
            </a:r>
          </a:p>
        </p:txBody>
      </p:sp>
      <p:sp>
        <p:nvSpPr>
          <p:cNvPr id="100017" name="!!#s2-cunit0"/>
          <p:cNvSpPr txBox="1"/>
          <p:nvPr/>
        </p:nvSpPr>
        <p:spPr>
          <a:xfrm>
            <a:off x="900000" y="4392000"/>
            <a:ext cx="2268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600" b="0">
                <a:solidFill>
                  <a:srgbClr val="8FA3C8"/>
                </a:solidFill>
                <a:latin typeface="Arial"/>
                <a:ea typeface="Arial"/>
              </a:rPr>
              <a:t>元</a:t>
            </a:r>
          </a:p>
        </p:txBody>
      </p:sp>
      <p:sp>
        <p:nvSpPr>
          <p:cNvPr id="100018" name="!!#s2-card1"/>
          <p:cNvSpPr/>
          <p:nvPr/>
        </p:nvSpPr>
        <p:spPr>
          <a:xfrm>
            <a:off x="3600000" y="2232000"/>
            <a:ext cx="2268000" cy="2952000"/>
          </a:xfrm>
          <a:prstGeom prst="roundRect">
            <a:avLst/>
          </a:prstGeom>
          <a:solidFill>
            <a:srgbClr val="16213E"/>
          </a:solidFill>
          <a:ln>
            <a:solidFill>
              <a:srgbClr val="00E5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19" name="!!#s2-clab1"/>
          <p:cNvSpPr txBox="1"/>
          <p:nvPr/>
        </p:nvSpPr>
        <p:spPr>
          <a:xfrm>
            <a:off x="3600000" y="2592000"/>
            <a:ext cx="2268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700" b="1">
                <a:solidFill>
                  <a:srgbClr val="4DD0E1"/>
                </a:solidFill>
                <a:latin typeface="Arial"/>
                <a:ea typeface="Arial"/>
              </a:rPr>
              <a:t>累计订单</a:t>
            </a:r>
          </a:p>
        </p:txBody>
      </p:sp>
      <p:sp>
        <p:nvSpPr>
          <p:cNvPr id="100020" name="!!#s2-cnum1"/>
          <p:cNvSpPr txBox="1"/>
          <p:nvPr/>
        </p:nvSpPr>
        <p:spPr>
          <a:xfrm>
            <a:off x="3600000" y="3240000"/>
            <a:ext cx="2268000" cy="936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Arial"/>
                <a:ea typeface="Arial"/>
              </a:rPr>
              <a:t>180</a:t>
            </a:r>
          </a:p>
        </p:txBody>
      </p:sp>
      <p:sp>
        <p:nvSpPr>
          <p:cNvPr id="100021" name="!!#s2-cunit1"/>
          <p:cNvSpPr txBox="1"/>
          <p:nvPr/>
        </p:nvSpPr>
        <p:spPr>
          <a:xfrm>
            <a:off x="3600000" y="4392000"/>
            <a:ext cx="2268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600" b="0">
                <a:solidFill>
                  <a:srgbClr val="8FA3C8"/>
                </a:solidFill>
                <a:latin typeface="Arial"/>
                <a:ea typeface="Arial"/>
              </a:rPr>
              <a:t>笔</a:t>
            </a:r>
          </a:p>
        </p:txBody>
      </p:sp>
      <p:sp>
        <p:nvSpPr>
          <p:cNvPr id="100022" name="!!#s2-card2"/>
          <p:cNvSpPr/>
          <p:nvPr/>
        </p:nvSpPr>
        <p:spPr>
          <a:xfrm>
            <a:off x="6300000" y="2232000"/>
            <a:ext cx="2268000" cy="2952000"/>
          </a:xfrm>
          <a:prstGeom prst="roundRect">
            <a:avLst/>
          </a:prstGeom>
          <a:solidFill>
            <a:srgbClr val="16213E"/>
          </a:solidFill>
          <a:ln>
            <a:solidFill>
              <a:srgbClr val="00E5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23" name="!!#s2-clab2"/>
          <p:cNvSpPr txBox="1"/>
          <p:nvPr/>
        </p:nvSpPr>
        <p:spPr>
          <a:xfrm>
            <a:off x="6300000" y="2592000"/>
            <a:ext cx="2268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700" b="1">
                <a:solidFill>
                  <a:srgbClr val="4DD0E1"/>
                </a:solidFill>
                <a:latin typeface="Arial"/>
                <a:ea typeface="Arial"/>
              </a:rPr>
              <a:t>客单价</a:t>
            </a:r>
          </a:p>
        </p:txBody>
      </p:sp>
      <p:sp>
        <p:nvSpPr>
          <p:cNvPr id="100024" name="!!#s2-cnum2"/>
          <p:cNvSpPr txBox="1"/>
          <p:nvPr/>
        </p:nvSpPr>
        <p:spPr>
          <a:xfrm>
            <a:off x="6300000" y="3240000"/>
            <a:ext cx="2268000" cy="936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Arial"/>
                <a:ea typeface="Arial"/>
              </a:rPr>
              <a:t>2,311</a:t>
            </a:r>
          </a:p>
        </p:txBody>
      </p:sp>
      <p:sp>
        <p:nvSpPr>
          <p:cNvPr id="100025" name="!!#s2-cunit2"/>
          <p:cNvSpPr txBox="1"/>
          <p:nvPr/>
        </p:nvSpPr>
        <p:spPr>
          <a:xfrm>
            <a:off x="6300000" y="4392000"/>
            <a:ext cx="2268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600" b="0">
                <a:solidFill>
                  <a:srgbClr val="8FA3C8"/>
                </a:solidFill>
                <a:latin typeface="Arial"/>
                <a:ea typeface="Arial"/>
              </a:rPr>
              <a:t>元</a:t>
            </a:r>
          </a:p>
        </p:txBody>
      </p:sp>
      <p:sp>
        <p:nvSpPr>
          <p:cNvPr id="100026" name="!!#s2-card3"/>
          <p:cNvSpPr/>
          <p:nvPr/>
        </p:nvSpPr>
        <p:spPr>
          <a:xfrm>
            <a:off x="9000000" y="2232000"/>
            <a:ext cx="2268000" cy="2952000"/>
          </a:xfrm>
          <a:prstGeom prst="roundRect">
            <a:avLst/>
          </a:prstGeom>
          <a:solidFill>
            <a:srgbClr val="16213E"/>
          </a:solidFill>
          <a:ln>
            <a:solidFill>
              <a:srgbClr val="00E5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27" name="!!#s2-clab3"/>
          <p:cNvSpPr txBox="1"/>
          <p:nvPr/>
        </p:nvSpPr>
        <p:spPr>
          <a:xfrm>
            <a:off x="9000000" y="2592000"/>
            <a:ext cx="2268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700" b="1">
                <a:solidFill>
                  <a:srgbClr val="4DD0E1"/>
                </a:solidFill>
                <a:latin typeface="Arial"/>
                <a:ea typeface="Arial"/>
              </a:rPr>
              <a:t>销售总量</a:t>
            </a:r>
          </a:p>
        </p:txBody>
      </p:sp>
      <p:sp>
        <p:nvSpPr>
          <p:cNvPr id="100028" name="!!#s2-cnum3"/>
          <p:cNvSpPr txBox="1"/>
          <p:nvPr/>
        </p:nvSpPr>
        <p:spPr>
          <a:xfrm>
            <a:off x="9000000" y="3240000"/>
            <a:ext cx="2268000" cy="936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3000" b="1">
                <a:solidFill>
                  <a:srgbClr val="FFFFFF"/>
                </a:solidFill>
                <a:latin typeface="Arial"/>
                <a:ea typeface="Arial"/>
              </a:rPr>
              <a:t>282</a:t>
            </a:r>
          </a:p>
        </p:txBody>
      </p:sp>
      <p:sp>
        <p:nvSpPr>
          <p:cNvPr id="100029" name="!!#s2-cunit3"/>
          <p:cNvSpPr txBox="1"/>
          <p:nvPr/>
        </p:nvSpPr>
        <p:spPr>
          <a:xfrm>
            <a:off x="9000000" y="4392000"/>
            <a:ext cx="2268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600" b="0">
                <a:solidFill>
                  <a:srgbClr val="8FA3C8"/>
                </a:solidFill>
                <a:latin typeface="Arial"/>
                <a:ea typeface="Arial"/>
              </a:rPr>
              <a:t>件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:p14="http://schemas.microsoft.com/office/powerpoint/2010/main"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0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6" presetClass="emph" presetSubtype="0" dur="4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400" fill="hold"/>
                                        <p:tgtEl>
                                          <p:spTgt spid="10001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120"/>
                            </p:stCondLst>
                            <p:childTnLst>
                              <p:par>
                                <p:cTn id="14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0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270"/>
                            </p:stCondLst>
                            <p:childTnLst>
                              <p:par>
                                <p:cTn id="19" presetID="6" presetClass="emph" presetSubtype="0" dur="4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400" fill="hold"/>
                                        <p:tgtEl>
                                          <p:spTgt spid="10002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240"/>
                            </p:stCondLst>
                            <p:childTnLst>
                              <p:par>
                                <p:cTn id="23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0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390"/>
                            </p:stCondLst>
                            <p:childTnLst>
                              <p:par>
                                <p:cTn id="28" presetID="6" presetClass="emph" presetSubtype="0" dur="4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" dur="400" fill="hold"/>
                                        <p:tgtEl>
                                          <p:spTgt spid="1000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360"/>
                            </p:stCondLst>
                            <p:childTnLst>
                              <p:par>
                                <p:cTn id="32" presetID="10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00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510"/>
                            </p:stCondLst>
                            <p:childTnLst>
                              <p:par>
                                <p:cTn id="37" presetID="6" presetClass="emph" presetSubtype="0" dur="4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400" fill="hold"/>
                                        <p:tgtEl>
                                          <p:spTgt spid="10002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14" grpId="0" animBg="1"/>
      <p:bldP spid="100016" grpId="1"/>
      <p:bldP spid="100018" grpId="2" animBg="1"/>
      <p:bldP spid="100020" grpId="3"/>
      <p:bldP spid="100022" grpId="4" animBg="1"/>
      <p:bldP spid="100024" grpId="5"/>
      <p:bldP spid="100026" grpId="6" animBg="1"/>
      <p:bldP spid="100028" grpId="7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0" name="!!scene-glow"/>
          <p:cNvSpPr/>
          <p:nvPr/>
        </p:nvSpPr>
        <p:spPr>
          <a:xfrm>
            <a:off x="360000" y="720000"/>
            <a:ext cx="3600000" cy="3600000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31" name="!!scene-band"/>
          <p:cNvSpPr/>
          <p:nvPr/>
        </p:nvSpPr>
        <p:spPr>
          <a:xfrm>
            <a:off x="0" y="6192000"/>
            <a:ext cx="12193200" cy="66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32" name="!!scene-dot"/>
          <p:cNvSpPr/>
          <p:nvPr/>
        </p:nvSpPr>
        <p:spPr>
          <a:xfrm>
            <a:off x="10800000" y="1080000"/>
            <a:ext cx="324000" cy="324000"/>
          </a:xfrm>
          <a:prstGeom prst="ellipse">
            <a:avLst/>
          </a:prstGeom>
          <a:solidFill>
            <a:srgbClr val="4DD0E1">
              <a:alpha val="8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33" name="!!scene-accent"/>
          <p:cNvSpPr/>
          <p:nvPr/>
        </p:nvSpPr>
        <p:spPr>
          <a:xfrm>
            <a:off x="11304000" y="1224000"/>
            <a:ext cx="100800" cy="1260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34" name="!!#s3-title"/>
          <p:cNvSpPr txBox="1"/>
          <p:nvPr/>
        </p:nvSpPr>
        <p:spPr>
          <a:xfrm>
            <a:off x="900000" y="576000"/>
            <a:ext cx="7920000" cy="57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rial"/>
                <a:ea typeface="Arial"/>
              </a:rPr>
              <a:t>1.2 · 月度销售趋势</a:t>
            </a:r>
          </a:p>
        </p:txBody>
      </p:sp>
      <p:sp>
        <p:nvSpPr>
          <p:cNvPr id="100035" name="!!#s3-lead"/>
          <p:cNvSpPr txBox="1"/>
          <p:nvPr/>
        </p:nvSpPr>
        <p:spPr>
          <a:xfrm>
            <a:off x="900000" y="126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600" b="0">
                <a:solidFill>
                  <a:srgbClr val="8FA3C8"/>
                </a:solidFill>
                <a:latin typeface="Arial"/>
                <a:ea typeface="Arial"/>
              </a:rPr>
              <a:t>季度内累计增长 20.8%，6月环比 +12.2%</a:t>
            </a:r>
          </a:p>
        </p:txBody>
      </p:sp>
      <p:graphicFrame>
        <p:nvGraphicFramePr>
          <p:cNvPr id="100036" name="#s3-chart"/>
          <p:cNvGraphicFramePr/>
          <p:nvPr>
            <p:extLst>
              <p:ext uri="{D42A27DB-BD31-4B8C-83A1-F6EECF244321}">
                <p14:modId xmlns:p14="http://schemas.microsoft.com/office/powerpoint/2010/main" val="1609659297"/>
              </p:ext>
            </p:extLst>
          </p:nvPr>
        </p:nvGraphicFramePr>
        <p:xfrm>
          <a:off x="900000" y="1872000"/>
          <a:ext cx="7920000" cy="39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0037" name="!!#s3-side"/>
          <p:cNvSpPr/>
          <p:nvPr/>
        </p:nvSpPr>
        <p:spPr>
          <a:xfrm>
            <a:off x="9180000" y="1872000"/>
            <a:ext cx="2160000" cy="3960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38" name="!!#s3-sk"/>
          <p:cNvSpPr txBox="1"/>
          <p:nvPr/>
        </p:nvSpPr>
        <p:spPr>
          <a:xfrm>
            <a:off x="9360000" y="2160000"/>
            <a:ext cx="1800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500" b="1">
                <a:solidFill>
                  <a:srgbClr val="4DD0E1"/>
                </a:solidFill>
                <a:latin typeface="Arial"/>
                <a:ea typeface="Arial"/>
              </a:rPr>
              <a:t>环比增速</a:t>
            </a:r>
          </a:p>
        </p:txBody>
      </p:sp>
      <p:sp>
        <p:nvSpPr>
          <p:cNvPr id="100039" name="!!#s3-b1"/>
          <p:cNvSpPr txBox="1"/>
          <p:nvPr/>
        </p:nvSpPr>
        <p:spPr>
          <a:xfrm>
            <a:off x="9360000" y="2952000"/>
            <a:ext cx="1800000" cy="43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</a:rPr>
              <a:t>5月  +7.6%</a:t>
            </a:r>
          </a:p>
        </p:txBody>
      </p:sp>
      <p:sp>
        <p:nvSpPr>
          <p:cNvPr id="100040" name="!!#s3-b2"/>
          <p:cNvSpPr txBox="1"/>
          <p:nvPr/>
        </p:nvSpPr>
        <p:spPr>
          <a:xfrm>
            <a:off x="9360000" y="4032000"/>
            <a:ext cx="1800000" cy="43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200" b="1">
                <a:solidFill>
                  <a:srgbClr val="00E5FF"/>
                </a:solidFill>
                <a:latin typeface="Arial"/>
                <a:ea typeface="Arial"/>
              </a:rPr>
              <a:t>6月  +12.2%</a:t>
            </a:r>
          </a:p>
        </p:txBody>
      </p:sp>
      <p:sp>
        <p:nvSpPr>
          <p:cNvPr id="100041" name="!!#s3-b3"/>
          <p:cNvSpPr txBox="1"/>
          <p:nvPr/>
        </p:nvSpPr>
        <p:spPr>
          <a:xfrm>
            <a:off x="9360000" y="5112000"/>
            <a:ext cx="1800000" cy="43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600" b="0">
                <a:solidFill>
                  <a:srgbClr val="8FA3C8"/>
                </a:solidFill>
                <a:latin typeface="Arial"/>
                <a:ea typeface="Arial"/>
              </a:rPr>
              <a:t>季度累计 +20.8%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:p14="http://schemas.microsoft.com/office/powerpoint/2010/main"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26" presetClass="emph" presetSubtype="0" dur="5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000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000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0036" grpId="0">
        <p:bldAsOne/>
      </p:bldGraphic>
      <p:bldP spid="10004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2" name="!!scene-glow"/>
          <p:cNvSpPr/>
          <p:nvPr/>
        </p:nvSpPr>
        <p:spPr>
          <a:xfrm>
            <a:off x="8640000" y="3600000"/>
            <a:ext cx="3600000" cy="3600000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43" name="!!scene-band"/>
          <p:cNvSpPr/>
          <p:nvPr/>
        </p:nvSpPr>
        <p:spPr>
          <a:xfrm>
            <a:off x="0" y="6192000"/>
            <a:ext cx="12193200" cy="66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44" name="!!scene-dot"/>
          <p:cNvSpPr/>
          <p:nvPr/>
        </p:nvSpPr>
        <p:spPr>
          <a:xfrm>
            <a:off x="900000" y="1080000"/>
            <a:ext cx="324000" cy="324000"/>
          </a:xfrm>
          <a:prstGeom prst="ellipse">
            <a:avLst/>
          </a:prstGeom>
          <a:solidFill>
            <a:srgbClr val="4DD0E1">
              <a:alpha val="8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45" name="!!scene-accent"/>
          <p:cNvSpPr/>
          <p:nvPr/>
        </p:nvSpPr>
        <p:spPr>
          <a:xfrm>
            <a:off x="792000" y="3600000"/>
            <a:ext cx="100800" cy="1440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46" name="!!#s4-title"/>
          <p:cNvSpPr txBox="1"/>
          <p:nvPr/>
        </p:nvSpPr>
        <p:spPr>
          <a:xfrm>
            <a:off x="900000" y="576000"/>
            <a:ext cx="7920000" cy="57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rial"/>
                <a:ea typeface="Arial"/>
              </a:rPr>
              <a:t>二 · 分城市分析</a:t>
            </a:r>
          </a:p>
        </p:txBody>
      </p:sp>
      <p:sp>
        <p:nvSpPr>
          <p:cNvPr id="100047" name="!!#s4-lead"/>
          <p:cNvSpPr txBox="1"/>
          <p:nvPr/>
        </p:nvSpPr>
        <p:spPr>
          <a:xfrm>
            <a:off x="900000" y="126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600" b="0">
                <a:solidFill>
                  <a:srgbClr val="8FA3C8"/>
                </a:solidFill>
                <a:latin typeface="Arial"/>
                <a:ea typeface="Arial"/>
              </a:rPr>
              <a:t>深圳领跑，广州仅为深圳 57.8%，存增长空间</a:t>
            </a:r>
          </a:p>
        </p:txBody>
      </p:sp>
      <p:graphicFrame>
        <p:nvGraphicFramePr>
          <p:cNvPr id="100048" name="#s4-chart"/>
          <p:cNvGraphicFramePr/>
          <p:nvPr>
            <p:extLst>
              <p:ext uri="{D42A27DB-BD31-4B8C-83A1-F6EECF244321}">
                <p14:modId xmlns:p14="http://schemas.microsoft.com/office/powerpoint/2010/main" val="3357837660"/>
              </p:ext>
            </p:extLst>
          </p:nvPr>
        </p:nvGraphicFramePr>
        <p:xfrm>
          <a:off x="900000" y="1800000"/>
          <a:ext cx="10440000" cy="41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:p14="http://schemas.microsoft.com/office/powerpoint/2010/main"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0048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9" name="!!scene-glow"/>
          <p:cNvSpPr/>
          <p:nvPr/>
        </p:nvSpPr>
        <p:spPr>
          <a:xfrm>
            <a:off x="3960000" y="3960000"/>
            <a:ext cx="3960000" cy="3960000"/>
          </a:xfrm>
          <a:prstGeom prst="ellipse">
            <a:avLst/>
          </a:prstGeom>
          <a:solidFill>
            <a:srgbClr val="00E5FF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50" name="!!scene-band"/>
          <p:cNvSpPr/>
          <p:nvPr/>
        </p:nvSpPr>
        <p:spPr>
          <a:xfrm>
            <a:off x="0" y="6192000"/>
            <a:ext cx="12193200" cy="66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51" name="!!scene-dot"/>
          <p:cNvSpPr/>
          <p:nvPr/>
        </p:nvSpPr>
        <p:spPr>
          <a:xfrm>
            <a:off x="10800000" y="5040000"/>
            <a:ext cx="324000" cy="324000"/>
          </a:xfrm>
          <a:prstGeom prst="ellipse">
            <a:avLst/>
          </a:prstGeom>
          <a:solidFill>
            <a:srgbClr val="4DD0E1">
              <a:alpha val="8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52" name="!!scene-accent"/>
          <p:cNvSpPr/>
          <p:nvPr/>
        </p:nvSpPr>
        <p:spPr>
          <a:xfrm>
            <a:off x="11304000" y="3240000"/>
            <a:ext cx="100800" cy="1620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53" name="!!#s5-title"/>
          <p:cNvSpPr txBox="1"/>
          <p:nvPr/>
        </p:nvSpPr>
        <p:spPr>
          <a:xfrm>
            <a:off x="900000" y="576000"/>
            <a:ext cx="8640000" cy="57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rial"/>
                <a:ea typeface="Arial"/>
              </a:rPr>
              <a:t>2.2 · 城市结构洞察</a:t>
            </a:r>
          </a:p>
        </p:txBody>
      </p:sp>
      <p:sp>
        <p:nvSpPr>
          <p:cNvPr id="100054" name="!!#s5-card0"/>
          <p:cNvSpPr/>
          <p:nvPr/>
        </p:nvSpPr>
        <p:spPr>
          <a:xfrm>
            <a:off x="900000" y="1872000"/>
            <a:ext cx="3384000" cy="3780000"/>
          </a:xfrm>
          <a:prstGeom prst="roundRect">
            <a:avLst/>
          </a:prstGeom>
          <a:solidFill>
            <a:srgbClr val="16213E"/>
          </a:solidFill>
          <a:ln>
            <a:solidFill>
              <a:srgbClr val="00E5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55" name="!!#s5-ch0"/>
          <p:cNvSpPr txBox="1"/>
          <p:nvPr/>
        </p:nvSpPr>
        <p:spPr>
          <a:xfrm>
            <a:off x="1080000" y="2160000"/>
            <a:ext cx="3024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600" b="1">
                <a:solidFill>
                  <a:srgbClr val="4DD0E1"/>
                </a:solidFill>
                <a:latin typeface="Arial"/>
                <a:ea typeface="Arial"/>
              </a:rPr>
              <a:t>高客单价区</a:t>
            </a:r>
          </a:p>
        </p:txBody>
      </p:sp>
      <p:sp>
        <p:nvSpPr>
          <p:cNvPr id="100056" name="!!#s5-cbig0"/>
          <p:cNvSpPr txBox="1"/>
          <p:nvPr/>
        </p:nvSpPr>
        <p:spPr>
          <a:xfrm>
            <a:off x="1080000" y="2880000"/>
            <a:ext cx="3024000" cy="86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上海 2,652 / 深圳 2,473</a:t>
            </a:r>
          </a:p>
        </p:txBody>
      </p:sp>
      <p:sp>
        <p:nvSpPr>
          <p:cNvPr id="100057" name="!!#s5-cd0"/>
          <p:cNvSpPr txBox="1"/>
          <p:nvPr/>
        </p:nvSpPr>
        <p:spPr>
          <a:xfrm>
            <a:off x="1080000" y="4104000"/>
            <a:ext cx="3024000" cy="12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500" b="0">
                <a:solidFill>
                  <a:srgbClr val="8FA3C8"/>
                </a:solidFill>
                <a:latin typeface="Arial"/>
                <a:ea typeface="Arial"/>
              </a:rPr>
              <a:t>显著高于均值 2,311，高价家居渗透良好</a:t>
            </a:r>
          </a:p>
        </p:txBody>
      </p:sp>
      <p:sp>
        <p:nvSpPr>
          <p:cNvPr id="100058" name="!!#s5-card1"/>
          <p:cNvSpPr/>
          <p:nvPr/>
        </p:nvSpPr>
        <p:spPr>
          <a:xfrm>
            <a:off x="4392000" y="1872000"/>
            <a:ext cx="3384000" cy="3780000"/>
          </a:xfrm>
          <a:prstGeom prst="roundRect">
            <a:avLst/>
          </a:prstGeom>
          <a:solidFill>
            <a:srgbClr val="16213E"/>
          </a:solidFill>
          <a:ln>
            <a:solidFill>
              <a:srgbClr val="00E5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59" name="!!#s5-ch1"/>
          <p:cNvSpPr txBox="1"/>
          <p:nvPr/>
        </p:nvSpPr>
        <p:spPr>
          <a:xfrm>
            <a:off x="4572000" y="2160000"/>
            <a:ext cx="3024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600" b="1">
                <a:solidFill>
                  <a:srgbClr val="4DD0E1"/>
                </a:solidFill>
                <a:latin typeface="Arial"/>
                <a:ea typeface="Arial"/>
              </a:rPr>
              <a:t>低客单价区</a:t>
            </a:r>
          </a:p>
        </p:txBody>
      </p:sp>
      <p:sp>
        <p:nvSpPr>
          <p:cNvPr id="100060" name="!!#s5-cbig1"/>
          <p:cNvSpPr txBox="1"/>
          <p:nvPr/>
        </p:nvSpPr>
        <p:spPr>
          <a:xfrm>
            <a:off x="4572000" y="2880000"/>
            <a:ext cx="3024000" cy="86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成都 2,060 / 广州 2,003</a:t>
            </a:r>
          </a:p>
        </p:txBody>
      </p:sp>
      <p:sp>
        <p:nvSpPr>
          <p:cNvPr id="100061" name="!!#s5-cd1"/>
          <p:cNvSpPr txBox="1"/>
          <p:nvPr/>
        </p:nvSpPr>
        <p:spPr>
          <a:xfrm>
            <a:off x="4572000" y="4104000"/>
            <a:ext cx="3024000" cy="12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500" b="0">
                <a:solidFill>
                  <a:srgbClr val="8FA3C8"/>
                </a:solidFill>
                <a:latin typeface="Arial"/>
                <a:ea typeface="Arial"/>
              </a:rPr>
              <a:t>以中低价数码及家电为主</a:t>
            </a:r>
          </a:p>
        </p:txBody>
      </p:sp>
      <p:sp>
        <p:nvSpPr>
          <p:cNvPr id="100062" name="!!#s5-card2"/>
          <p:cNvSpPr/>
          <p:nvPr/>
        </p:nvSpPr>
        <p:spPr>
          <a:xfrm>
            <a:off x="7884000" y="1872000"/>
            <a:ext cx="3384000" cy="3780000"/>
          </a:xfrm>
          <a:prstGeom prst="roundRect">
            <a:avLst/>
          </a:prstGeom>
          <a:solidFill>
            <a:srgbClr val="16213E"/>
          </a:solidFill>
          <a:ln>
            <a:solidFill>
              <a:srgbClr val="00E5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63" name="!!#s5-ch2"/>
          <p:cNvSpPr txBox="1"/>
          <p:nvPr/>
        </p:nvSpPr>
        <p:spPr>
          <a:xfrm>
            <a:off x="8064000" y="2160000"/>
            <a:ext cx="3024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600" b="1">
                <a:solidFill>
                  <a:srgbClr val="4DD0E1"/>
                </a:solidFill>
                <a:latin typeface="Arial"/>
                <a:ea typeface="Arial"/>
              </a:rPr>
              <a:t>品类分化</a:t>
            </a:r>
          </a:p>
        </p:txBody>
      </p:sp>
      <p:sp>
        <p:nvSpPr>
          <p:cNvPr id="100064" name="!!#s5-cbig2"/>
          <p:cNvSpPr txBox="1"/>
          <p:nvPr/>
        </p:nvSpPr>
        <p:spPr>
          <a:xfrm>
            <a:off x="8064000" y="2880000"/>
            <a:ext cx="3024000" cy="86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深圳家电 32,776 元</a:t>
            </a:r>
          </a:p>
        </p:txBody>
      </p:sp>
      <p:sp>
        <p:nvSpPr>
          <p:cNvPr id="100065" name="!!#s5-cd2"/>
          <p:cNvSpPr txBox="1"/>
          <p:nvPr/>
        </p:nvSpPr>
        <p:spPr>
          <a:xfrm>
            <a:off x="8064000" y="4104000"/>
            <a:ext cx="3024000" cy="12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500" b="0">
                <a:solidFill>
                  <a:srgbClr val="8FA3C8"/>
                </a:solidFill>
                <a:latin typeface="Arial"/>
                <a:ea typeface="Arial"/>
              </a:rPr>
              <a:t>远超其他城市，区域品类结构差异明显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:p14="http://schemas.microsoft.com/office/powerpoint/2010/main"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0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300"/>
                            </p:stCondLst>
                            <p:childTnLst>
                              <p:par>
                                <p:cTn id="15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00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54" grpId="0" animBg="1"/>
      <p:bldP spid="100058" grpId="1" animBg="1"/>
      <p:bldP spid="100062" grpId="2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66" name="!!scene-glow"/>
          <p:cNvSpPr/>
          <p:nvPr/>
        </p:nvSpPr>
        <p:spPr>
          <a:xfrm>
            <a:off x="8640000" y="3600000"/>
            <a:ext cx="3240000" cy="3240000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67" name="!!scene-band"/>
          <p:cNvSpPr/>
          <p:nvPr/>
        </p:nvSpPr>
        <p:spPr>
          <a:xfrm>
            <a:off x="0" y="6192000"/>
            <a:ext cx="12193200" cy="66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68" name="!!scene-dot"/>
          <p:cNvSpPr/>
          <p:nvPr/>
        </p:nvSpPr>
        <p:spPr>
          <a:xfrm>
            <a:off x="900000" y="5040000"/>
            <a:ext cx="324000" cy="324000"/>
          </a:xfrm>
          <a:prstGeom prst="ellipse">
            <a:avLst/>
          </a:prstGeom>
          <a:solidFill>
            <a:srgbClr val="4DD0E1">
              <a:alpha val="8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69" name="!!scene-accent"/>
          <p:cNvSpPr/>
          <p:nvPr/>
        </p:nvSpPr>
        <p:spPr>
          <a:xfrm>
            <a:off x="792000" y="1224000"/>
            <a:ext cx="100800" cy="1080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70" name="!!#s6-title"/>
          <p:cNvSpPr txBox="1"/>
          <p:nvPr/>
        </p:nvSpPr>
        <p:spPr>
          <a:xfrm>
            <a:off x="900000" y="576000"/>
            <a:ext cx="7920000" cy="57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rial"/>
                <a:ea typeface="Arial"/>
              </a:rPr>
              <a:t>三 · 分渠道分析</a:t>
            </a:r>
          </a:p>
        </p:txBody>
      </p:sp>
      <p:sp>
        <p:nvSpPr>
          <p:cNvPr id="100071" name="!!#s6-lead"/>
          <p:cNvSpPr txBox="1"/>
          <p:nvPr/>
        </p:nvSpPr>
        <p:spPr>
          <a:xfrm>
            <a:off x="900000" y="126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600" b="0">
                <a:solidFill>
                  <a:srgbClr val="8FA3C8"/>
                </a:solidFill>
                <a:latin typeface="Arial"/>
                <a:ea typeface="Arial"/>
              </a:rPr>
              <a:t>天猫居首 24.9%，线上渠道合计占比 77.8%</a:t>
            </a:r>
          </a:p>
        </p:txBody>
      </p:sp>
      <p:graphicFrame>
        <p:nvGraphicFramePr>
          <p:cNvPr id="100072" name="#s6-chart"/>
          <p:cNvGraphicFramePr/>
          <p:nvPr>
            <p:extLst>
              <p:ext uri="{D42A27DB-BD31-4B8C-83A1-F6EECF244321}">
                <p14:modId xmlns:p14="http://schemas.microsoft.com/office/powerpoint/2010/main" val="1536615316"/>
              </p:ext>
            </p:extLst>
          </p:nvPr>
        </p:nvGraphicFramePr>
        <p:xfrm>
          <a:off x="720000" y="1800000"/>
          <a:ext cx="6120000" cy="41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0073" name="!!#s6-side"/>
          <p:cNvSpPr/>
          <p:nvPr/>
        </p:nvSpPr>
        <p:spPr>
          <a:xfrm>
            <a:off x="7128000" y="1800000"/>
            <a:ext cx="4320000" cy="4140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74" name="!!#s6-rc0"/>
          <p:cNvSpPr txBox="1"/>
          <p:nvPr/>
        </p:nvSpPr>
        <p:spPr>
          <a:xfrm>
            <a:off x="7344000" y="2124000"/>
            <a:ext cx="162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rial"/>
                <a:ea typeface="Arial"/>
              </a:rPr>
              <a:t>天猫</a:t>
            </a:r>
          </a:p>
        </p:txBody>
      </p:sp>
      <p:sp>
        <p:nvSpPr>
          <p:cNvPr id="100075" name="!!#s6-ra0"/>
          <p:cNvSpPr txBox="1"/>
          <p:nvPr/>
        </p:nvSpPr>
        <p:spPr>
          <a:xfrm>
            <a:off x="8784000" y="2124000"/>
            <a:ext cx="144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600" b="0">
                <a:solidFill>
                  <a:srgbClr val="8FA3C8"/>
                </a:solidFill>
                <a:latin typeface="Arial"/>
                <a:ea typeface="Arial"/>
              </a:rPr>
              <a:t>103,624</a:t>
            </a:r>
          </a:p>
        </p:txBody>
      </p:sp>
      <p:sp>
        <p:nvSpPr>
          <p:cNvPr id="100076" name="!!#s6-rp0"/>
          <p:cNvSpPr txBox="1"/>
          <p:nvPr/>
        </p:nvSpPr>
        <p:spPr>
          <a:xfrm>
            <a:off x="10296000" y="2124000"/>
            <a:ext cx="108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800" b="1">
                <a:solidFill>
                  <a:srgbClr val="00E5FF"/>
                </a:solidFill>
                <a:latin typeface="Arial"/>
                <a:ea typeface="Arial"/>
              </a:rPr>
              <a:t>24.9%</a:t>
            </a:r>
          </a:p>
        </p:txBody>
      </p:sp>
      <p:sp>
        <p:nvSpPr>
          <p:cNvPr id="100077" name="!!#s6-rc1"/>
          <p:cNvSpPr txBox="1"/>
          <p:nvPr/>
        </p:nvSpPr>
        <p:spPr>
          <a:xfrm>
            <a:off x="7344000" y="2862000"/>
            <a:ext cx="162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rial"/>
                <a:ea typeface="Arial"/>
              </a:rPr>
              <a:t>线下门店</a:t>
            </a:r>
          </a:p>
        </p:txBody>
      </p:sp>
      <p:sp>
        <p:nvSpPr>
          <p:cNvPr id="100078" name="!!#s6-ra1"/>
          <p:cNvSpPr txBox="1"/>
          <p:nvPr/>
        </p:nvSpPr>
        <p:spPr>
          <a:xfrm>
            <a:off x="8784000" y="2862000"/>
            <a:ext cx="144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600" b="0">
                <a:solidFill>
                  <a:srgbClr val="8FA3C8"/>
                </a:solidFill>
                <a:latin typeface="Arial"/>
                <a:ea typeface="Arial"/>
              </a:rPr>
              <a:t>92,344</a:t>
            </a:r>
          </a:p>
        </p:txBody>
      </p:sp>
      <p:sp>
        <p:nvSpPr>
          <p:cNvPr id="100079" name="!!#s6-rp1"/>
          <p:cNvSpPr txBox="1"/>
          <p:nvPr/>
        </p:nvSpPr>
        <p:spPr>
          <a:xfrm>
            <a:off x="10296000" y="2862000"/>
            <a:ext cx="108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800" b="1">
                <a:solidFill>
                  <a:srgbClr val="00E5FF"/>
                </a:solidFill>
                <a:latin typeface="Arial"/>
                <a:ea typeface="Arial"/>
              </a:rPr>
              <a:t>22.2%</a:t>
            </a:r>
          </a:p>
        </p:txBody>
      </p:sp>
      <p:sp>
        <p:nvSpPr>
          <p:cNvPr id="100080" name="!!#s6-rc2"/>
          <p:cNvSpPr txBox="1"/>
          <p:nvPr/>
        </p:nvSpPr>
        <p:spPr>
          <a:xfrm>
            <a:off x="7344000" y="3600000"/>
            <a:ext cx="162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rial"/>
                <a:ea typeface="Arial"/>
              </a:rPr>
              <a:t>官网</a:t>
            </a:r>
          </a:p>
        </p:txBody>
      </p:sp>
      <p:sp>
        <p:nvSpPr>
          <p:cNvPr id="100081" name="!!#s6-ra2"/>
          <p:cNvSpPr txBox="1"/>
          <p:nvPr/>
        </p:nvSpPr>
        <p:spPr>
          <a:xfrm>
            <a:off x="8784000" y="3600000"/>
            <a:ext cx="144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600" b="0">
                <a:solidFill>
                  <a:srgbClr val="8FA3C8"/>
                </a:solidFill>
                <a:latin typeface="Arial"/>
                <a:ea typeface="Arial"/>
              </a:rPr>
              <a:t>81,839</a:t>
            </a:r>
          </a:p>
        </p:txBody>
      </p:sp>
      <p:sp>
        <p:nvSpPr>
          <p:cNvPr id="100082" name="!!#s6-rp2"/>
          <p:cNvSpPr txBox="1"/>
          <p:nvPr/>
        </p:nvSpPr>
        <p:spPr>
          <a:xfrm>
            <a:off x="10296000" y="3600000"/>
            <a:ext cx="108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800" b="1">
                <a:solidFill>
                  <a:srgbClr val="00E5FF"/>
                </a:solidFill>
                <a:latin typeface="Arial"/>
                <a:ea typeface="Arial"/>
              </a:rPr>
              <a:t>19.7%</a:t>
            </a:r>
          </a:p>
        </p:txBody>
      </p:sp>
      <p:sp>
        <p:nvSpPr>
          <p:cNvPr id="100083" name="!!#s6-rc3"/>
          <p:cNvSpPr txBox="1"/>
          <p:nvPr/>
        </p:nvSpPr>
        <p:spPr>
          <a:xfrm>
            <a:off x="7344000" y="4338000"/>
            <a:ext cx="162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rial"/>
                <a:ea typeface="Arial"/>
              </a:rPr>
              <a:t>京东</a:t>
            </a:r>
          </a:p>
        </p:txBody>
      </p:sp>
      <p:sp>
        <p:nvSpPr>
          <p:cNvPr id="100084" name="!!#s6-ra3"/>
          <p:cNvSpPr txBox="1"/>
          <p:nvPr/>
        </p:nvSpPr>
        <p:spPr>
          <a:xfrm>
            <a:off x="8784000" y="4338000"/>
            <a:ext cx="144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600" b="0">
                <a:solidFill>
                  <a:srgbClr val="8FA3C8"/>
                </a:solidFill>
                <a:latin typeface="Arial"/>
                <a:ea typeface="Arial"/>
              </a:rPr>
              <a:t>70,956</a:t>
            </a:r>
          </a:p>
        </p:txBody>
      </p:sp>
      <p:sp>
        <p:nvSpPr>
          <p:cNvPr id="100085" name="!!#s6-rp3"/>
          <p:cNvSpPr txBox="1"/>
          <p:nvPr/>
        </p:nvSpPr>
        <p:spPr>
          <a:xfrm>
            <a:off x="10296000" y="4338000"/>
            <a:ext cx="108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800" b="1">
                <a:solidFill>
                  <a:srgbClr val="00E5FF"/>
                </a:solidFill>
                <a:latin typeface="Arial"/>
                <a:ea typeface="Arial"/>
              </a:rPr>
              <a:t>17.1%</a:t>
            </a:r>
          </a:p>
        </p:txBody>
      </p:sp>
      <p:sp>
        <p:nvSpPr>
          <p:cNvPr id="100086" name="!!#s6-rc4"/>
          <p:cNvSpPr txBox="1"/>
          <p:nvPr/>
        </p:nvSpPr>
        <p:spPr>
          <a:xfrm>
            <a:off x="7344000" y="5076000"/>
            <a:ext cx="162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rial"/>
                <a:ea typeface="Arial"/>
              </a:rPr>
              <a:t>抖音</a:t>
            </a:r>
          </a:p>
        </p:txBody>
      </p:sp>
      <p:sp>
        <p:nvSpPr>
          <p:cNvPr id="100087" name="!!#s6-ra4"/>
          <p:cNvSpPr txBox="1"/>
          <p:nvPr/>
        </p:nvSpPr>
        <p:spPr>
          <a:xfrm>
            <a:off x="8784000" y="5076000"/>
            <a:ext cx="144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600" b="0">
                <a:solidFill>
                  <a:srgbClr val="8FA3C8"/>
                </a:solidFill>
                <a:latin typeface="Arial"/>
                <a:ea typeface="Arial"/>
              </a:rPr>
              <a:t>67,155</a:t>
            </a:r>
          </a:p>
        </p:txBody>
      </p:sp>
      <p:sp>
        <p:nvSpPr>
          <p:cNvPr id="100088" name="!!#s6-rp4"/>
          <p:cNvSpPr txBox="1"/>
          <p:nvPr/>
        </p:nvSpPr>
        <p:spPr>
          <a:xfrm>
            <a:off x="10296000" y="5076000"/>
            <a:ext cx="108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800" b="1">
                <a:solidFill>
                  <a:srgbClr val="00E5FF"/>
                </a:solidFill>
                <a:latin typeface="Arial"/>
                <a:ea typeface="Arial"/>
              </a:rPr>
              <a:t>16.1%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:p14="http://schemas.microsoft.com/office/powerpoint/2010/main"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00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0072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89" name="!!scene-glow"/>
          <p:cNvSpPr/>
          <p:nvPr/>
        </p:nvSpPr>
        <p:spPr>
          <a:xfrm>
            <a:off x="9000000" y="4320000"/>
            <a:ext cx="2880000" cy="2880000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90" name="!!scene-band"/>
          <p:cNvSpPr/>
          <p:nvPr/>
        </p:nvSpPr>
        <p:spPr>
          <a:xfrm>
            <a:off x="0" y="6192000"/>
            <a:ext cx="12193200" cy="66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91" name="!!scene-dot"/>
          <p:cNvSpPr/>
          <p:nvPr/>
        </p:nvSpPr>
        <p:spPr>
          <a:xfrm>
            <a:off x="900000" y="1080000"/>
            <a:ext cx="324000" cy="324000"/>
          </a:xfrm>
          <a:prstGeom prst="ellipse">
            <a:avLst/>
          </a:prstGeom>
          <a:solidFill>
            <a:srgbClr val="4DD0E1">
              <a:alpha val="8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92" name="!!scene-accent"/>
          <p:cNvSpPr/>
          <p:nvPr/>
        </p:nvSpPr>
        <p:spPr>
          <a:xfrm>
            <a:off x="11304000" y="3960000"/>
            <a:ext cx="100800" cy="1440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93" name="!!#s7-title"/>
          <p:cNvSpPr txBox="1"/>
          <p:nvPr/>
        </p:nvSpPr>
        <p:spPr>
          <a:xfrm>
            <a:off x="900000" y="576000"/>
            <a:ext cx="7920000" cy="57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rial"/>
                <a:ea typeface="Arial"/>
              </a:rPr>
              <a:t>四 · 产品表现</a:t>
            </a:r>
          </a:p>
        </p:txBody>
      </p:sp>
      <p:sp>
        <p:nvSpPr>
          <p:cNvPr id="100094" name="!!#s7-lead"/>
          <p:cNvSpPr txBox="1"/>
          <p:nvPr/>
        </p:nvSpPr>
        <p:spPr>
          <a:xfrm>
            <a:off x="900000" y="1260000"/>
            <a:ext cx="1080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600" b="0">
                <a:solidFill>
                  <a:srgbClr val="8FA3C8"/>
                </a:solidFill>
                <a:latin typeface="Arial"/>
                <a:ea typeface="Arial"/>
              </a:rPr>
              <a:t>家居品类贡献 56.5%，是绝对核心；家电、数码并列第二</a:t>
            </a:r>
          </a:p>
        </p:txBody>
      </p:sp>
      <p:sp>
        <p:nvSpPr>
          <p:cNvPr id="100095" name="!!#s7-bar0"/>
          <p:cNvSpPr/>
          <p:nvPr/>
        </p:nvSpPr>
        <p:spPr>
          <a:xfrm>
            <a:off x="900000" y="2016000"/>
            <a:ext cx="7863300" cy="90000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96" name="!!#s7-bl0"/>
          <p:cNvSpPr txBox="1"/>
          <p:nvPr/>
        </p:nvSpPr>
        <p:spPr>
          <a:xfrm>
            <a:off x="1116000" y="2160000"/>
            <a:ext cx="1800000" cy="57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2200" b="1">
                <a:solidFill>
                  <a:srgbClr val="1A1A2E"/>
                </a:solidFill>
                <a:latin typeface="Arial"/>
                <a:ea typeface="Arial"/>
              </a:rPr>
              <a:t>家居</a:t>
            </a:r>
          </a:p>
        </p:txBody>
      </p:sp>
      <p:sp>
        <p:nvSpPr>
          <p:cNvPr id="100097" name="!!#s7-bv0"/>
          <p:cNvSpPr txBox="1"/>
          <p:nvPr/>
        </p:nvSpPr>
        <p:spPr>
          <a:xfrm>
            <a:off x="900000" y="2214000"/>
            <a:ext cx="7611300" cy="504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900" b="1">
                <a:solidFill>
                  <a:srgbClr val="1A1A2E"/>
                </a:solidFill>
                <a:latin typeface="Arial"/>
                <a:ea typeface="Arial"/>
              </a:rPr>
              <a:t>235,185 元    56.5%</a:t>
            </a:r>
          </a:p>
        </p:txBody>
      </p:sp>
      <p:sp>
        <p:nvSpPr>
          <p:cNvPr id="100098" name="!!#s7-bar1"/>
          <p:cNvSpPr/>
          <p:nvPr/>
        </p:nvSpPr>
        <p:spPr>
          <a:xfrm>
            <a:off x="900000" y="3312000"/>
            <a:ext cx="4838040" cy="900000"/>
          </a:xfrm>
          <a:prstGeom prst="roundRect">
            <a:avLst/>
          </a:prstGeom>
          <a:solidFill>
            <a:srgbClr val="4DD0E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99" name="!!#s7-bl1"/>
          <p:cNvSpPr txBox="1"/>
          <p:nvPr/>
        </p:nvSpPr>
        <p:spPr>
          <a:xfrm>
            <a:off x="1116000" y="3456000"/>
            <a:ext cx="1800000" cy="57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家电</a:t>
            </a:r>
          </a:p>
        </p:txBody>
      </p:sp>
      <p:sp>
        <p:nvSpPr>
          <p:cNvPr id="100100" name="!!#s7-bv1"/>
          <p:cNvSpPr txBox="1"/>
          <p:nvPr/>
        </p:nvSpPr>
        <p:spPr>
          <a:xfrm>
            <a:off x="900000" y="3510000"/>
            <a:ext cx="4586040" cy="504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900" b="1">
                <a:solidFill>
                  <a:srgbClr val="FFFFFF"/>
                </a:solidFill>
                <a:latin typeface="Arial"/>
                <a:ea typeface="Arial"/>
              </a:rPr>
              <a:t>92,227 元    22.2%</a:t>
            </a:r>
          </a:p>
        </p:txBody>
      </p:sp>
      <p:sp>
        <p:nvSpPr>
          <p:cNvPr id="100101" name="!!#s7-bar2"/>
          <p:cNvSpPr/>
          <p:nvPr/>
        </p:nvSpPr>
        <p:spPr>
          <a:xfrm>
            <a:off x="900000" y="4608000"/>
            <a:ext cx="4758660" cy="9000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02" name="!!#s7-bl2"/>
          <p:cNvSpPr txBox="1"/>
          <p:nvPr/>
        </p:nvSpPr>
        <p:spPr>
          <a:xfrm>
            <a:off x="1116000" y="4752000"/>
            <a:ext cx="1800000" cy="57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数码</a:t>
            </a:r>
          </a:p>
        </p:txBody>
      </p:sp>
      <p:sp>
        <p:nvSpPr>
          <p:cNvPr id="100103" name="!!#s7-bv2"/>
          <p:cNvSpPr txBox="1"/>
          <p:nvPr/>
        </p:nvSpPr>
        <p:spPr>
          <a:xfrm>
            <a:off x="900000" y="4806000"/>
            <a:ext cx="4506660" cy="504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900" b="1">
                <a:solidFill>
                  <a:srgbClr val="FFFFFF"/>
                </a:solidFill>
                <a:latin typeface="Arial"/>
                <a:ea typeface="Arial"/>
              </a:rPr>
              <a:t>88,506 元    21.3%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:p14="http://schemas.microsoft.com/office/powerpoint/2010/main"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00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80"/>
                            </p:stCondLst>
                            <p:childTnLst>
                              <p:par>
                                <p:cTn id="10" presetID="20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400"/>
                                        <p:tgtEl>
                                          <p:spTgt spid="100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360"/>
                            </p:stCondLst>
                            <p:childTnLst>
                              <p:par>
                                <p:cTn id="15" presetID="20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400"/>
                                        <p:tgtEl>
                                          <p:spTgt spid="100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700"/>
                            </p:stCondLst>
                            <p:childTnLst>
                              <p:par>
                                <p:cTn id="20" presetID="26" presetClass="emph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000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000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95" grpId="0" animBg="1"/>
      <p:bldP spid="100098" grpId="1" animBg="1"/>
      <p:bldP spid="100101" grpId="2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04" name="!!scene-glow"/>
          <p:cNvSpPr/>
          <p:nvPr/>
        </p:nvSpPr>
        <p:spPr>
          <a:xfrm>
            <a:off x="1080000" y="3600000"/>
            <a:ext cx="2520000" cy="2520000"/>
          </a:xfrm>
          <a:prstGeom prst="ellipse">
            <a:avLst/>
          </a:prstGeom>
          <a:solidFill>
            <a:srgbClr val="00E5FF">
              <a:alpha val="14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05" name="!!scene-band"/>
          <p:cNvSpPr/>
          <p:nvPr/>
        </p:nvSpPr>
        <p:spPr>
          <a:xfrm>
            <a:off x="0" y="6192000"/>
            <a:ext cx="12193200" cy="66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06" name="!!scene-dot"/>
          <p:cNvSpPr/>
          <p:nvPr/>
        </p:nvSpPr>
        <p:spPr>
          <a:xfrm>
            <a:off x="10800000" y="5220000"/>
            <a:ext cx="324000" cy="324000"/>
          </a:xfrm>
          <a:prstGeom prst="ellipse">
            <a:avLst/>
          </a:prstGeom>
          <a:solidFill>
            <a:srgbClr val="4DD0E1">
              <a:alpha val="8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07" name="!!scene-accent"/>
          <p:cNvSpPr/>
          <p:nvPr/>
        </p:nvSpPr>
        <p:spPr>
          <a:xfrm>
            <a:off x="792000" y="1224000"/>
            <a:ext cx="100800" cy="1080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08" name="!!model-chair">
                <a:extLst>
                  <a:ext uri="{FF2B5EF4-FFF2-40B4-BE49-F238E27FC236}">
                    <a16:creationId xmlns:a16="http://schemas.microsoft.com/office/drawing/2014/main" id="{5A6BF795-0872-47CA-B4D4-618B98D183E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300000" y="540000"/>
              <a:ext cx="5580000" cy="5580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5580000" cy="5580000"/>
                    </a:xfrm>
                    <a:prstGeom prst="rect">
                      <a:avLst/>
                    </a:prstGeom>
                  </am3d:spPr>
                  <am3d:camera>
                    <am3d:pos x="0" y="0" z="6921383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09836" d="1000000"/>
                    <am3d:preTrans dx="32378" dy="-14941402" dz="-366186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30000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580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08" name="!!model-chair">
                <a:extLst>
                  <a:ext uri="{FF2B5EF4-FFF2-40B4-BE49-F238E27FC236}">
                    <a16:creationId xmlns:a16="http://schemas.microsoft.com/office/drawing/2014/main" id="{5A6BF795-0872-47CA-B4D4-618B98D183E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00000" y="540000"/>
                <a:ext cx="5580000" cy="5580000"/>
              </a:xfrm>
              <a:prstGeom prst="rect">
                <a:avLst/>
              </a:prstGeom>
            </p:spPr>
          </p:pic>
        </mc:Fallback>
      </mc:AlternateContent>
      <p:sp>
        <p:nvSpPr>
          <p:cNvPr id="100109" name="!!#s8-kicker"/>
          <p:cNvSpPr txBox="1"/>
          <p:nvPr/>
        </p:nvSpPr>
        <p:spPr>
          <a:xfrm>
            <a:off x="900000" y="720000"/>
            <a:ext cx="504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500" b="1">
                <a:solidFill>
                  <a:srgbClr val="00E5FF"/>
                </a:solidFill>
                <a:latin typeface="Arial"/>
                <a:ea typeface="Arial"/>
              </a:rPr>
              <a:t>SALES  CHAMPION</a:t>
            </a:r>
          </a:p>
        </p:txBody>
      </p:sp>
      <p:sp>
        <p:nvSpPr>
          <p:cNvPr id="100110" name="!!#s8-title"/>
          <p:cNvSpPr txBox="1"/>
          <p:nvPr/>
        </p:nvSpPr>
        <p:spPr>
          <a:xfrm>
            <a:off x="900000" y="1152000"/>
            <a:ext cx="5400000" cy="86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4400" b="1">
                <a:solidFill>
                  <a:srgbClr val="FFFFFF"/>
                </a:solidFill>
                <a:latin typeface="Arial"/>
                <a:ea typeface="Arial"/>
              </a:rPr>
              <a:t>人体工学椅</a:t>
            </a:r>
          </a:p>
        </p:txBody>
      </p:sp>
      <p:sp>
        <p:nvSpPr>
          <p:cNvPr id="100111" name="!!#s8-sub"/>
          <p:cNvSpPr txBox="1"/>
          <p:nvPr/>
        </p:nvSpPr>
        <p:spPr>
          <a:xfrm>
            <a:off x="900000" y="2160000"/>
            <a:ext cx="5400000" cy="432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700" b="0">
                <a:solidFill>
                  <a:srgbClr val="4DD0E1"/>
                </a:solidFill>
                <a:latin typeface="Arial"/>
                <a:ea typeface="Arial"/>
              </a:rPr>
              <a:t>全季销量与销售额双料冠军</a:t>
            </a:r>
          </a:p>
        </p:txBody>
      </p:sp>
      <p:sp>
        <p:nvSpPr>
          <p:cNvPr id="100112" name="!!#s8-num"/>
          <p:cNvSpPr txBox="1"/>
          <p:nvPr/>
        </p:nvSpPr>
        <p:spPr>
          <a:xfrm>
            <a:off x="1440000" y="2925000"/>
            <a:ext cx="5040000" cy="1008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6600" b="1" dirty="0">
                <a:solidFill>
                  <a:srgbClr val="00E5FF"/>
                </a:solidFill>
                <a:latin typeface="Arial"/>
                <a:ea typeface="Arial"/>
              </a:rPr>
              <a:t>165,213</a:t>
            </a:r>
          </a:p>
        </p:txBody>
      </p:sp>
      <p:sp>
        <p:nvSpPr>
          <p:cNvPr id="100113" name="!!#s8-numu"/>
          <p:cNvSpPr txBox="1"/>
          <p:nvPr/>
        </p:nvSpPr>
        <p:spPr>
          <a:xfrm>
            <a:off x="900000" y="4176000"/>
            <a:ext cx="504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600" b="0">
                <a:solidFill>
                  <a:srgbClr val="8FA3C8"/>
                </a:solidFill>
                <a:latin typeface="Arial"/>
                <a:ea typeface="Arial"/>
              </a:rPr>
              <a:t>销售额（元）</a:t>
            </a:r>
          </a:p>
        </p:txBody>
      </p:sp>
      <p:sp>
        <p:nvSpPr>
          <p:cNvPr id="100114" name="!!#s8-pct"/>
          <p:cNvSpPr txBox="1"/>
          <p:nvPr/>
        </p:nvSpPr>
        <p:spPr>
          <a:xfrm>
            <a:off x="900000" y="4896000"/>
            <a:ext cx="5400000" cy="432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占全季销售额 39.7%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:am3d="http://schemas.microsoft.com/office/drawing/2017/model3d" xmlns:p14="http://schemas.microsoft.com/office/powerpoint/2010/main"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7" dur="500" fill="hold"/>
                                        <p:tgtEl>
                                          <p:spTgt spid="100112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6" presetClass="emph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500" fill="hold"/>
                                        <p:tgtEl>
                                          <p:spTgt spid="10011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1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15" name="!!scene-glow"/>
          <p:cNvSpPr/>
          <p:nvPr/>
        </p:nvSpPr>
        <p:spPr>
          <a:xfrm>
            <a:off x="7920000" y="3240000"/>
            <a:ext cx="3240000" cy="3240000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16" name="!!scene-band"/>
          <p:cNvSpPr/>
          <p:nvPr/>
        </p:nvSpPr>
        <p:spPr>
          <a:xfrm>
            <a:off x="0" y="6192000"/>
            <a:ext cx="12193200" cy="66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17" name="!!scene-dot"/>
          <p:cNvSpPr/>
          <p:nvPr/>
        </p:nvSpPr>
        <p:spPr>
          <a:xfrm>
            <a:off x="10800000" y="1080000"/>
            <a:ext cx="324000" cy="324000"/>
          </a:xfrm>
          <a:prstGeom prst="ellipse">
            <a:avLst/>
          </a:prstGeom>
          <a:solidFill>
            <a:srgbClr val="4DD0E1">
              <a:alpha val="8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18" name="!!scene-accent"/>
          <p:cNvSpPr/>
          <p:nvPr/>
        </p:nvSpPr>
        <p:spPr>
          <a:xfrm>
            <a:off x="11304000" y="1440000"/>
            <a:ext cx="100800" cy="1440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19" name="!!model-chair">
                <a:extLst>
                  <a:ext uri="{FF2B5EF4-FFF2-40B4-BE49-F238E27FC236}">
                    <a16:creationId xmlns:a16="http://schemas.microsoft.com/office/drawing/2014/main" id="{16FD912C-A0E1-4B80-9032-589F7EEE01C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380000" y="1440000"/>
              <a:ext cx="4320000" cy="4320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320000" cy="4320000"/>
                    </a:xfrm>
                    <a:prstGeom prst="rect">
                      <a:avLst/>
                    </a:prstGeom>
                  </am3d:spPr>
                  <am3d:camera>
                    <am3d:pos x="0" y="0" z="6921383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09836" d="1000000"/>
                    <am3d:preTrans dx="32378" dy="-14941402" dz="-366186"/>
                    <am3d:scale>
                      <am3d:sx n="1000000" d="1000000"/>
                      <am3d:sy n="1000000" d="1000000"/>
                      <am3d:sz n="1000000" d="1000000"/>
                    </am3d:scale>
                    <am3d:rot ax="1320000" ay="570000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320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19" name="!!model-chair">
                <a:extLst>
                  <a:ext uri="{FF2B5EF4-FFF2-40B4-BE49-F238E27FC236}">
                    <a16:creationId xmlns:a16="http://schemas.microsoft.com/office/drawing/2014/main" id="{16FD912C-A0E1-4B80-9032-589F7EEE01C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80000" y="1440000"/>
                <a:ext cx="4320000" cy="4320000"/>
              </a:xfrm>
              <a:prstGeom prst="rect">
                <a:avLst/>
              </a:prstGeom>
            </p:spPr>
          </p:pic>
        </mc:Fallback>
      </mc:AlternateContent>
      <p:sp>
        <p:nvSpPr>
          <p:cNvPr id="100120" name="!!#s9-title"/>
          <p:cNvSpPr txBox="1"/>
          <p:nvPr/>
        </p:nvSpPr>
        <p:spPr>
          <a:xfrm>
            <a:off x="900000" y="648000"/>
            <a:ext cx="7920000" cy="57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rial"/>
                <a:ea typeface="Arial"/>
              </a:rPr>
              <a:t>双料冠军 · 关键数据</a:t>
            </a:r>
          </a:p>
        </p:txBody>
      </p:sp>
      <p:sp>
        <p:nvSpPr>
          <p:cNvPr id="100121" name="!!#s9-card0"/>
          <p:cNvSpPr/>
          <p:nvPr/>
        </p:nvSpPr>
        <p:spPr>
          <a:xfrm>
            <a:off x="900000" y="1656000"/>
            <a:ext cx="5400000" cy="1224000"/>
          </a:xfrm>
          <a:prstGeom prst="roundRect">
            <a:avLst/>
          </a:prstGeom>
          <a:solidFill>
            <a:srgbClr val="16213E"/>
          </a:solidFill>
          <a:ln>
            <a:solidFill>
              <a:srgbClr val="00E5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122" name="!!#s9-num0"/>
          <p:cNvSpPr txBox="1"/>
          <p:nvPr/>
        </p:nvSpPr>
        <p:spPr>
          <a:xfrm>
            <a:off x="1530000" y="1782000"/>
            <a:ext cx="2160000" cy="93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4400" b="1" dirty="0">
                <a:solidFill>
                  <a:srgbClr val="00E5FF"/>
                </a:solidFill>
                <a:latin typeface="Arial"/>
                <a:ea typeface="Arial"/>
              </a:rPr>
              <a:t>87</a:t>
            </a:r>
          </a:p>
        </p:txBody>
      </p:sp>
      <p:sp>
        <p:nvSpPr>
          <p:cNvPr id="100123" name="!!#s9-lab0"/>
          <p:cNvSpPr txBox="1"/>
          <p:nvPr/>
        </p:nvSpPr>
        <p:spPr>
          <a:xfrm>
            <a:off x="3420000" y="2016000"/>
            <a:ext cx="2520000" cy="50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售出（件）</a:t>
            </a:r>
          </a:p>
        </p:txBody>
      </p:sp>
      <p:sp>
        <p:nvSpPr>
          <p:cNvPr id="100124" name="!!#s9-card1"/>
          <p:cNvSpPr/>
          <p:nvPr/>
        </p:nvSpPr>
        <p:spPr>
          <a:xfrm>
            <a:off x="900000" y="3096000"/>
            <a:ext cx="5400000" cy="1224000"/>
          </a:xfrm>
          <a:prstGeom prst="roundRect">
            <a:avLst/>
          </a:prstGeom>
          <a:solidFill>
            <a:srgbClr val="16213E"/>
          </a:solidFill>
          <a:ln>
            <a:solidFill>
              <a:srgbClr val="00E5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125" name="!!#s9-num1"/>
          <p:cNvSpPr txBox="1"/>
          <p:nvPr/>
        </p:nvSpPr>
        <p:spPr>
          <a:xfrm>
            <a:off x="1530000" y="3222000"/>
            <a:ext cx="2160000" cy="93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4400" b="1">
                <a:solidFill>
                  <a:srgbClr val="00E5FF"/>
                </a:solidFill>
                <a:latin typeface="Arial"/>
                <a:ea typeface="Arial"/>
              </a:rPr>
              <a:t>52</a:t>
            </a:r>
          </a:p>
        </p:txBody>
      </p:sp>
      <p:sp>
        <p:nvSpPr>
          <p:cNvPr id="100126" name="!!#s9-lab1"/>
          <p:cNvSpPr txBox="1"/>
          <p:nvPr/>
        </p:nvSpPr>
        <p:spPr>
          <a:xfrm>
            <a:off x="3420000" y="3456000"/>
            <a:ext cx="2520000" cy="50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成交（笔）</a:t>
            </a:r>
          </a:p>
        </p:txBody>
      </p:sp>
      <p:sp>
        <p:nvSpPr>
          <p:cNvPr id="100127" name="!!#s9-card2"/>
          <p:cNvSpPr/>
          <p:nvPr/>
        </p:nvSpPr>
        <p:spPr>
          <a:xfrm>
            <a:off x="900000" y="4536000"/>
            <a:ext cx="5400000" cy="1224000"/>
          </a:xfrm>
          <a:prstGeom prst="roundRect">
            <a:avLst/>
          </a:prstGeom>
          <a:solidFill>
            <a:srgbClr val="16213E"/>
          </a:solidFill>
          <a:ln>
            <a:solidFill>
              <a:srgbClr val="00E5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128" name="!!#s9-num2"/>
          <p:cNvSpPr txBox="1"/>
          <p:nvPr/>
        </p:nvSpPr>
        <p:spPr>
          <a:xfrm>
            <a:off x="1530000" y="4662000"/>
            <a:ext cx="2160000" cy="93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4400" b="1">
                <a:solidFill>
                  <a:srgbClr val="00E5FF"/>
                </a:solidFill>
                <a:latin typeface="Arial"/>
                <a:ea typeface="Arial"/>
              </a:rPr>
              <a:t>39.7%</a:t>
            </a:r>
          </a:p>
        </p:txBody>
      </p:sp>
      <p:sp>
        <p:nvSpPr>
          <p:cNvPr id="100129" name="!!#s9-lab2"/>
          <p:cNvSpPr txBox="1"/>
          <p:nvPr/>
        </p:nvSpPr>
        <p:spPr>
          <a:xfrm>
            <a:off x="3420000" y="4896000"/>
            <a:ext cx="2520000" cy="50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销售额占比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:am3d="http://schemas.microsoft.com/office/drawing/2017/model3d" xmlns:p14="http://schemas.microsoft.com/office/powerpoint/2010/main"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80" fill="hold"/>
                                        <p:tgtEl>
                                          <p:spTgt spid="100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200"/>
                            </p:stCondLst>
                            <p:childTnLst>
                              <p:par>
                                <p:cTn id="10" presetID="6" presetClass="emph" presetSubtype="0" dur="4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400" fill="hold"/>
                                        <p:tgtEl>
                                          <p:spTgt spid="10012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160"/>
                            </p:stCondLst>
                            <p:childTnLst>
                              <p:par>
                                <p:cTn id="14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80" fill="hold"/>
                                        <p:tgtEl>
                                          <p:spTgt spid="100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360"/>
                            </p:stCondLst>
                            <p:childTnLst>
                              <p:par>
                                <p:cTn id="19" presetID="6" presetClass="emph" presetSubtype="0" dur="4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400" fill="hold"/>
                                        <p:tgtEl>
                                          <p:spTgt spid="1001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320"/>
                            </p:stCondLst>
                            <p:childTnLst>
                              <p:par>
                                <p:cTn id="23" presetID="2" presetClass="entr" presetSubtype="4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380" fill="hold"/>
                                        <p:tgtEl>
                                          <p:spTgt spid="100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520"/>
                            </p:stCondLst>
                            <p:childTnLst>
                              <p:par>
                                <p:cTn id="28" presetID="6" presetClass="emph" presetSubtype="0" dur="4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" dur="400" fill="hold"/>
                                        <p:tgtEl>
                                          <p:spTgt spid="10012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121" grpId="0" animBg="1"/>
      <p:bldP spid="100122" grpId="1"/>
      <p:bldP spid="100124" grpId="2" animBg="1"/>
      <p:bldP spid="100125" grpId="3"/>
      <p:bldP spid="100127" grpId="4" animBg="1"/>
      <p:bldP spid="100128" grpId="5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30" name="!!scene-glow"/>
          <p:cNvSpPr/>
          <p:nvPr/>
        </p:nvSpPr>
        <p:spPr>
          <a:xfrm>
            <a:off x="8640000" y="720000"/>
            <a:ext cx="3240000" cy="3240000"/>
          </a:xfrm>
          <a:prstGeom prst="ellipse">
            <a:avLst/>
          </a:prstGeom>
          <a:solidFill>
            <a:srgbClr val="00E5FF">
              <a:alpha val="16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31" name="!!scene-band"/>
          <p:cNvSpPr/>
          <p:nvPr/>
        </p:nvSpPr>
        <p:spPr>
          <a:xfrm>
            <a:off x="0" y="6192000"/>
            <a:ext cx="12193200" cy="66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32" name="!!scene-dot"/>
          <p:cNvSpPr/>
          <p:nvPr/>
        </p:nvSpPr>
        <p:spPr>
          <a:xfrm>
            <a:off x="900000" y="5220000"/>
            <a:ext cx="324000" cy="324000"/>
          </a:xfrm>
          <a:prstGeom prst="ellipse">
            <a:avLst/>
          </a:prstGeom>
          <a:solidFill>
            <a:srgbClr val="4DD0E1">
              <a:alpha val="8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33" name="!!scene-accent"/>
          <p:cNvSpPr/>
          <p:nvPr/>
        </p:nvSpPr>
        <p:spPr>
          <a:xfrm>
            <a:off x="792000" y="3780000"/>
            <a:ext cx="100800" cy="1440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34" name="!!#s10-title"/>
          <p:cNvSpPr txBox="1"/>
          <p:nvPr/>
        </p:nvSpPr>
        <p:spPr>
          <a:xfrm>
            <a:off x="900000" y="576000"/>
            <a:ext cx="7920000" cy="57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rial"/>
                <a:ea typeface="Arial"/>
              </a:rPr>
              <a:t>五 · 问题与建议</a:t>
            </a:r>
          </a:p>
        </p:txBody>
      </p:sp>
      <p:sp>
        <p:nvSpPr>
          <p:cNvPr id="100135" name="!!#s10-card0"/>
          <p:cNvSpPr/>
          <p:nvPr/>
        </p:nvSpPr>
        <p:spPr>
          <a:xfrm>
            <a:off x="900000" y="1584000"/>
            <a:ext cx="5328000" cy="1944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36" name="!!#s10-tab0"/>
          <p:cNvSpPr/>
          <p:nvPr/>
        </p:nvSpPr>
        <p:spPr>
          <a:xfrm>
            <a:off x="900000" y="1584000"/>
            <a:ext cx="90000" cy="1944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37" name="!!#s10-h0"/>
          <p:cNvSpPr txBox="1"/>
          <p:nvPr/>
        </p:nvSpPr>
        <p:spPr>
          <a:xfrm>
            <a:off x="1116000" y="1728000"/>
            <a:ext cx="486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900" b="1">
                <a:solidFill>
                  <a:srgbClr val="FF6B6B"/>
                </a:solidFill>
                <a:latin typeface="Arial"/>
                <a:ea typeface="Arial"/>
              </a:rPr>
              <a:t>结构过度集中</a:t>
            </a:r>
          </a:p>
        </p:txBody>
      </p:sp>
      <p:sp>
        <p:nvSpPr>
          <p:cNvPr id="100138" name="!!#s10-p0"/>
          <p:cNvSpPr txBox="1"/>
          <p:nvPr/>
        </p:nvSpPr>
        <p:spPr>
          <a:xfrm>
            <a:off x="1116000" y="2196000"/>
            <a:ext cx="4860000" cy="57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500" b="0">
                <a:solidFill>
                  <a:srgbClr val="FFFFFF"/>
                </a:solidFill>
                <a:latin typeface="Arial"/>
                <a:ea typeface="Arial"/>
              </a:rPr>
              <a:t>家居 56.5%、人体工学椅单品即占 39.7%</a:t>
            </a:r>
          </a:p>
        </p:txBody>
      </p:sp>
      <p:sp>
        <p:nvSpPr>
          <p:cNvPr id="100139" name="!!#s10-s0"/>
          <p:cNvSpPr txBox="1"/>
          <p:nvPr/>
        </p:nvSpPr>
        <p:spPr>
          <a:xfrm>
            <a:off x="1116000" y="2844000"/>
            <a:ext cx="4860000" cy="57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500" b="1">
                <a:solidFill>
                  <a:srgbClr val="4DD0E1"/>
                </a:solidFill>
                <a:latin typeface="Arial"/>
                <a:ea typeface="Arial"/>
              </a:rPr>
              <a:t>→ 优化品类结构，培育中高客单价数码家电</a:t>
            </a:r>
          </a:p>
        </p:txBody>
      </p:sp>
      <p:sp>
        <p:nvSpPr>
          <p:cNvPr id="100140" name="!!#s10-card1"/>
          <p:cNvSpPr/>
          <p:nvPr/>
        </p:nvSpPr>
        <p:spPr>
          <a:xfrm>
            <a:off x="6516000" y="1584000"/>
            <a:ext cx="5328000" cy="1944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41" name="!!#s10-tab1"/>
          <p:cNvSpPr/>
          <p:nvPr/>
        </p:nvSpPr>
        <p:spPr>
          <a:xfrm>
            <a:off x="6516000" y="1584000"/>
            <a:ext cx="90000" cy="1944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42" name="!!#s10-h1"/>
          <p:cNvSpPr txBox="1"/>
          <p:nvPr/>
        </p:nvSpPr>
        <p:spPr>
          <a:xfrm>
            <a:off x="6732000" y="1728000"/>
            <a:ext cx="486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900" b="1">
                <a:solidFill>
                  <a:srgbClr val="FF6B6B"/>
                </a:solidFill>
                <a:latin typeface="Arial"/>
                <a:ea typeface="Arial"/>
              </a:rPr>
              <a:t>区域发展不均</a:t>
            </a:r>
          </a:p>
        </p:txBody>
      </p:sp>
      <p:sp>
        <p:nvSpPr>
          <p:cNvPr id="100143" name="!!#s10-p1"/>
          <p:cNvSpPr txBox="1"/>
          <p:nvPr/>
        </p:nvSpPr>
        <p:spPr>
          <a:xfrm>
            <a:off x="6732000" y="2196000"/>
            <a:ext cx="4860000" cy="57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500" b="0">
                <a:solidFill>
                  <a:srgbClr val="FFFFFF"/>
                </a:solidFill>
                <a:latin typeface="Arial"/>
                <a:ea typeface="Arial"/>
              </a:rPr>
              <a:t>广州仅为深圳 57.8%，客单价全域最低</a:t>
            </a:r>
          </a:p>
        </p:txBody>
      </p:sp>
      <p:sp>
        <p:nvSpPr>
          <p:cNvPr id="100144" name="!!#s10-s1"/>
          <p:cNvSpPr txBox="1"/>
          <p:nvPr/>
        </p:nvSpPr>
        <p:spPr>
          <a:xfrm>
            <a:off x="6732000" y="2844000"/>
            <a:ext cx="4860000" cy="57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500" b="1">
                <a:solidFill>
                  <a:srgbClr val="4DD0E1"/>
                </a:solidFill>
                <a:latin typeface="Arial"/>
                <a:ea typeface="Arial"/>
              </a:rPr>
              <a:t>→ 广州/北京设专项目标，Q3 环比 +15%</a:t>
            </a:r>
          </a:p>
        </p:txBody>
      </p:sp>
      <p:sp>
        <p:nvSpPr>
          <p:cNvPr id="100145" name="!!#s10-card2"/>
          <p:cNvSpPr/>
          <p:nvPr/>
        </p:nvSpPr>
        <p:spPr>
          <a:xfrm>
            <a:off x="900000" y="3744000"/>
            <a:ext cx="5328000" cy="1944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46" name="!!#s10-tab2"/>
          <p:cNvSpPr/>
          <p:nvPr/>
        </p:nvSpPr>
        <p:spPr>
          <a:xfrm>
            <a:off x="900000" y="3744000"/>
            <a:ext cx="90000" cy="1944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47" name="!!#s10-h2"/>
          <p:cNvSpPr txBox="1"/>
          <p:nvPr/>
        </p:nvSpPr>
        <p:spPr>
          <a:xfrm>
            <a:off x="1116000" y="3888000"/>
            <a:ext cx="486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900" b="1">
                <a:solidFill>
                  <a:srgbClr val="00E5FF"/>
                </a:solidFill>
                <a:latin typeface="Arial"/>
                <a:ea typeface="Arial"/>
              </a:rPr>
              <a:t>退款与赠品损耗</a:t>
            </a:r>
          </a:p>
        </p:txBody>
      </p:sp>
      <p:sp>
        <p:nvSpPr>
          <p:cNvPr id="100148" name="!!#s10-p2"/>
          <p:cNvSpPr txBox="1"/>
          <p:nvPr/>
        </p:nvSpPr>
        <p:spPr>
          <a:xfrm>
            <a:off x="1116000" y="4356000"/>
            <a:ext cx="4860000" cy="57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500" b="0">
                <a:solidFill>
                  <a:srgbClr val="FFFFFF"/>
                </a:solidFill>
                <a:latin typeface="Arial"/>
                <a:ea typeface="Arial"/>
              </a:rPr>
              <a:t>退款+赠品合计约占季度销售额 9.0%</a:t>
            </a:r>
          </a:p>
        </p:txBody>
      </p:sp>
      <p:sp>
        <p:nvSpPr>
          <p:cNvPr id="100149" name="!!#s10-s2"/>
          <p:cNvSpPr txBox="1"/>
          <p:nvPr/>
        </p:nvSpPr>
        <p:spPr>
          <a:xfrm>
            <a:off x="1116000" y="5004000"/>
            <a:ext cx="4860000" cy="57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500" b="1">
                <a:solidFill>
                  <a:srgbClr val="4DD0E1"/>
                </a:solidFill>
                <a:latin typeface="Arial"/>
                <a:ea typeface="Arial"/>
              </a:rPr>
              <a:t>→ 建立退款根因分析，量化赠品转化</a:t>
            </a:r>
          </a:p>
        </p:txBody>
      </p:sp>
      <p:sp>
        <p:nvSpPr>
          <p:cNvPr id="100150" name="!!#s10-card3"/>
          <p:cNvSpPr/>
          <p:nvPr/>
        </p:nvSpPr>
        <p:spPr>
          <a:xfrm>
            <a:off x="6516000" y="3744000"/>
            <a:ext cx="5328000" cy="1944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51" name="!!#s10-tab3"/>
          <p:cNvSpPr/>
          <p:nvPr/>
        </p:nvSpPr>
        <p:spPr>
          <a:xfrm>
            <a:off x="6516000" y="3744000"/>
            <a:ext cx="90000" cy="1944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52" name="!!#s10-h3"/>
          <p:cNvSpPr txBox="1"/>
          <p:nvPr/>
        </p:nvSpPr>
        <p:spPr>
          <a:xfrm>
            <a:off x="6732000" y="3888000"/>
            <a:ext cx="486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900" b="1">
                <a:solidFill>
                  <a:srgbClr val="00E5FF"/>
                </a:solidFill>
                <a:latin typeface="Arial"/>
                <a:ea typeface="Arial"/>
              </a:rPr>
              <a:t>低价单品拉低效率</a:t>
            </a:r>
          </a:p>
        </p:txBody>
      </p:sp>
      <p:sp>
        <p:nvSpPr>
          <p:cNvPr id="100153" name="!!#s10-p3"/>
          <p:cNvSpPr txBox="1"/>
          <p:nvPr/>
        </p:nvSpPr>
        <p:spPr>
          <a:xfrm>
            <a:off x="6732000" y="4356000"/>
            <a:ext cx="4860000" cy="57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500" b="0">
                <a:solidFill>
                  <a:srgbClr val="FFFFFF"/>
                </a:solidFill>
                <a:latin typeface="Arial"/>
                <a:ea typeface="Arial"/>
              </a:rPr>
              <a:t>耳机+咖啡机销量不低但仅贡献 12.6%</a:t>
            </a:r>
          </a:p>
        </p:txBody>
      </p:sp>
      <p:sp>
        <p:nvSpPr>
          <p:cNvPr id="100154" name="!!#s10-s3"/>
          <p:cNvSpPr txBox="1"/>
          <p:nvPr/>
        </p:nvSpPr>
        <p:spPr>
          <a:xfrm>
            <a:off x="6732000" y="5004000"/>
            <a:ext cx="4860000" cy="57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500" b="1">
                <a:solidFill>
                  <a:srgbClr val="4DD0E1"/>
                </a:solidFill>
                <a:latin typeface="Arial"/>
                <a:ea typeface="Arial"/>
              </a:rPr>
              <a:t>→ 放大高效渠道，剔除低效备货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:p14="http://schemas.microsoft.com/office/powerpoint/2010/main"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0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20"/>
                            </p:stCondLst>
                            <p:childTnLst>
                              <p:par>
                                <p:cTn id="10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00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240"/>
                            </p:stCondLst>
                            <p:childTnLst>
                              <p:par>
                                <p:cTn id="15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00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360"/>
                            </p:stCondLst>
                            <p:childTnLst>
                              <p:par>
                                <p:cTn id="20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00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135" grpId="0" animBg="1"/>
      <p:bldP spid="100140" grpId="1" animBg="1"/>
      <p:bldP spid="100145" grpId="2" animBg="1"/>
      <p:bldP spid="100150" grpId="3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55" name="!!scene-glow"/>
          <p:cNvSpPr/>
          <p:nvPr/>
        </p:nvSpPr>
        <p:spPr>
          <a:xfrm>
            <a:off x="3600000" y="1080000"/>
            <a:ext cx="5040000" cy="5040000"/>
          </a:xfrm>
          <a:prstGeom prst="ellipse">
            <a:avLst/>
          </a:prstGeom>
          <a:solidFill>
            <a:srgbClr val="00E5FF">
              <a:alpha val="2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56" name="!!scene-band"/>
          <p:cNvSpPr/>
          <p:nvPr/>
        </p:nvSpPr>
        <p:spPr>
          <a:xfrm>
            <a:off x="0" y="6192000"/>
            <a:ext cx="12193200" cy="66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57" name="!!scene-dot"/>
          <p:cNvSpPr/>
          <p:nvPr/>
        </p:nvSpPr>
        <p:spPr>
          <a:xfrm>
            <a:off x="10800000" y="5400000"/>
            <a:ext cx="324000" cy="324000"/>
          </a:xfrm>
          <a:prstGeom prst="ellipse">
            <a:avLst/>
          </a:prstGeom>
          <a:solidFill>
            <a:srgbClr val="4DD0E1">
              <a:alpha val="8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58" name="!!scene-accent"/>
          <p:cNvSpPr/>
          <p:nvPr/>
        </p:nvSpPr>
        <p:spPr>
          <a:xfrm>
            <a:off x="11304000" y="1152000"/>
            <a:ext cx="100800" cy="1620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59" name="!!#s11-kicker"/>
          <p:cNvSpPr txBox="1"/>
          <p:nvPr/>
        </p:nvSpPr>
        <p:spPr>
          <a:xfrm>
            <a:off x="900000" y="792000"/>
            <a:ext cx="720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500" b="1">
                <a:solidFill>
                  <a:srgbClr val="00E5FF"/>
                </a:solidFill>
                <a:latin typeface="Arial"/>
                <a:ea typeface="Arial"/>
              </a:rPr>
              <a:t>LOOKING  AHEAD</a:t>
            </a:r>
          </a:p>
        </p:txBody>
      </p:sp>
      <p:sp>
        <p:nvSpPr>
          <p:cNvPr id="100160" name="!!#s11-title"/>
          <p:cNvSpPr txBox="1"/>
          <p:nvPr/>
        </p:nvSpPr>
        <p:spPr>
          <a:xfrm>
            <a:off x="900000" y="1224000"/>
            <a:ext cx="8640000" cy="72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4000" b="1">
                <a:solidFill>
                  <a:srgbClr val="FFFFFF"/>
                </a:solidFill>
                <a:latin typeface="Arial"/>
                <a:ea typeface="Arial"/>
              </a:rPr>
              <a:t>Q3 增长目标</a:t>
            </a:r>
          </a:p>
        </p:txBody>
      </p:sp>
      <p:sp>
        <p:nvSpPr>
          <p:cNvPr id="100161" name="!!#s11-card0"/>
          <p:cNvSpPr/>
          <p:nvPr/>
        </p:nvSpPr>
        <p:spPr>
          <a:xfrm>
            <a:off x="900000" y="2340000"/>
            <a:ext cx="3384000" cy="3312000"/>
          </a:xfrm>
          <a:prstGeom prst="roundRect">
            <a:avLst/>
          </a:prstGeom>
          <a:solidFill>
            <a:srgbClr val="16213E"/>
          </a:solidFill>
          <a:ln>
            <a:solidFill>
              <a:srgbClr val="00E5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162" name="!!#s11-num0"/>
          <p:cNvSpPr txBox="1"/>
          <p:nvPr/>
        </p:nvSpPr>
        <p:spPr>
          <a:xfrm>
            <a:off x="900000" y="2880000"/>
            <a:ext cx="3384000" cy="108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6000" b="1">
                <a:solidFill>
                  <a:srgbClr val="00E5FF"/>
                </a:solidFill>
                <a:latin typeface="Arial"/>
                <a:ea typeface="Arial"/>
              </a:rPr>
              <a:t>45</a:t>
            </a:r>
          </a:p>
        </p:txBody>
      </p:sp>
      <p:sp>
        <p:nvSpPr>
          <p:cNvPr id="100163" name="!!#s11-unit0"/>
          <p:cNvSpPr txBox="1"/>
          <p:nvPr/>
        </p:nvSpPr>
        <p:spPr>
          <a:xfrm>
            <a:off x="900000" y="4032000"/>
            <a:ext cx="3384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</a:rPr>
              <a:t>万元</a:t>
            </a:r>
          </a:p>
        </p:txBody>
      </p:sp>
      <p:sp>
        <p:nvSpPr>
          <p:cNvPr id="100164" name="!!#s11-lab0"/>
          <p:cNvSpPr txBox="1"/>
          <p:nvPr/>
        </p:nvSpPr>
        <p:spPr>
          <a:xfrm>
            <a:off x="900000" y="4536000"/>
            <a:ext cx="3384000" cy="43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</a:rPr>
              <a:t>季度销售额目标</a:t>
            </a:r>
          </a:p>
        </p:txBody>
      </p:sp>
      <p:sp>
        <p:nvSpPr>
          <p:cNvPr id="100165" name="!!#s11-desc0"/>
          <p:cNvSpPr txBox="1"/>
          <p:nvPr/>
        </p:nvSpPr>
        <p:spPr>
          <a:xfrm>
            <a:off x="900000" y="5040000"/>
            <a:ext cx="3384000" cy="50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400" b="0">
                <a:solidFill>
                  <a:srgbClr val="8FA3C8"/>
                </a:solidFill>
                <a:latin typeface="Arial"/>
                <a:ea typeface="Arial"/>
              </a:rPr>
              <a:t>把握暑期与开学季冲量</a:t>
            </a:r>
          </a:p>
        </p:txBody>
      </p:sp>
      <p:sp>
        <p:nvSpPr>
          <p:cNvPr id="100166" name="!!#s11-card1"/>
          <p:cNvSpPr/>
          <p:nvPr/>
        </p:nvSpPr>
        <p:spPr>
          <a:xfrm>
            <a:off x="4608000" y="2340000"/>
            <a:ext cx="3384000" cy="3312000"/>
          </a:xfrm>
          <a:prstGeom prst="roundRect">
            <a:avLst/>
          </a:prstGeom>
          <a:solidFill>
            <a:srgbClr val="16213E"/>
          </a:solidFill>
          <a:ln>
            <a:solidFill>
              <a:srgbClr val="00E5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167" name="!!#s11-num1"/>
          <p:cNvSpPr txBox="1"/>
          <p:nvPr/>
        </p:nvSpPr>
        <p:spPr>
          <a:xfrm>
            <a:off x="4608000" y="2880000"/>
            <a:ext cx="3384000" cy="108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6000" b="1">
                <a:solidFill>
                  <a:srgbClr val="00E5FF"/>
                </a:solidFill>
                <a:latin typeface="Arial"/>
                <a:ea typeface="Arial"/>
              </a:rPr>
              <a:t>+15%</a:t>
            </a:r>
          </a:p>
        </p:txBody>
      </p:sp>
      <p:sp>
        <p:nvSpPr>
          <p:cNvPr id="100168" name="!!#s11-lab1"/>
          <p:cNvSpPr txBox="1"/>
          <p:nvPr/>
        </p:nvSpPr>
        <p:spPr>
          <a:xfrm>
            <a:off x="4608000" y="4536000"/>
            <a:ext cx="3384000" cy="43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</a:rPr>
              <a:t>广州销售额环比</a:t>
            </a:r>
          </a:p>
        </p:txBody>
      </p:sp>
      <p:sp>
        <p:nvSpPr>
          <p:cNvPr id="100169" name="!!#s11-desc1"/>
          <p:cNvSpPr txBox="1"/>
          <p:nvPr/>
        </p:nvSpPr>
        <p:spPr>
          <a:xfrm>
            <a:off x="4608000" y="5040000"/>
            <a:ext cx="3384000" cy="50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400" b="0">
                <a:solidFill>
                  <a:srgbClr val="8FA3C8"/>
                </a:solidFill>
                <a:latin typeface="Arial"/>
                <a:ea typeface="Arial"/>
              </a:rPr>
              <a:t>激活弱势区域增长</a:t>
            </a:r>
          </a:p>
        </p:txBody>
      </p:sp>
      <p:sp>
        <p:nvSpPr>
          <p:cNvPr id="100170" name="!!#s11-card2"/>
          <p:cNvSpPr/>
          <p:nvPr/>
        </p:nvSpPr>
        <p:spPr>
          <a:xfrm>
            <a:off x="8316000" y="2340000"/>
            <a:ext cx="3384000" cy="3312000"/>
          </a:xfrm>
          <a:prstGeom prst="roundRect">
            <a:avLst/>
          </a:prstGeom>
          <a:solidFill>
            <a:srgbClr val="16213E"/>
          </a:solidFill>
          <a:ln>
            <a:solidFill>
              <a:srgbClr val="00E5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171" name="!!#s11-num2"/>
          <p:cNvSpPr txBox="1"/>
          <p:nvPr/>
        </p:nvSpPr>
        <p:spPr>
          <a:xfrm>
            <a:off x="8316000" y="2880000"/>
            <a:ext cx="3384000" cy="108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6000" b="1">
                <a:solidFill>
                  <a:srgbClr val="00E5FF"/>
                </a:solidFill>
                <a:latin typeface="Arial"/>
                <a:ea typeface="Arial"/>
              </a:rPr>
              <a:t>↑</a:t>
            </a:r>
          </a:p>
        </p:txBody>
      </p:sp>
      <p:sp>
        <p:nvSpPr>
          <p:cNvPr id="100172" name="!!#s11-unit2"/>
          <p:cNvSpPr txBox="1"/>
          <p:nvPr/>
        </p:nvSpPr>
        <p:spPr>
          <a:xfrm>
            <a:off x="8316000" y="4032000"/>
            <a:ext cx="3384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</a:rPr>
              <a:t>抖音</a:t>
            </a:r>
          </a:p>
        </p:txBody>
      </p:sp>
      <p:sp>
        <p:nvSpPr>
          <p:cNvPr id="100173" name="!!#s11-lab2"/>
          <p:cNvSpPr txBox="1"/>
          <p:nvPr/>
        </p:nvSpPr>
        <p:spPr>
          <a:xfrm>
            <a:off x="8316000" y="4536000"/>
            <a:ext cx="3384000" cy="43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</a:rPr>
              <a:t>增量渠道</a:t>
            </a:r>
          </a:p>
        </p:txBody>
      </p:sp>
      <p:sp>
        <p:nvSpPr>
          <p:cNvPr id="100174" name="!!#s11-desc2"/>
          <p:cNvSpPr txBox="1"/>
          <p:nvPr/>
        </p:nvSpPr>
        <p:spPr>
          <a:xfrm>
            <a:off x="8316000" y="5040000"/>
            <a:ext cx="3384000" cy="50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400" b="0">
                <a:solidFill>
                  <a:srgbClr val="8FA3C8"/>
                </a:solidFill>
                <a:latin typeface="Arial"/>
                <a:ea typeface="Arial"/>
              </a:rPr>
              <a:t>加大内容种草与直播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:p14="http://schemas.microsoft.com/office/powerpoint/2010/main"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7" dur="400" fill="hold"/>
                                        <p:tgtEl>
                                          <p:spTgt spid="100161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4" presetClass="entr" presetSubtype="0" dur="5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6" dur="400" fill="hold"/>
                                        <p:tgtEl>
                                          <p:spTgt spid="100166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100"/>
                            </p:stCondLst>
                            <p:childTnLst>
                              <p:par>
                                <p:cTn id="19" presetID="24" presetClass="entr" presetSubtype="0" dur="5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1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25" dur="400" fill="hold"/>
                                        <p:tgtEl>
                                          <p:spTgt spid="100170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100"/>
                            </p:stCondLst>
                            <p:childTnLst>
                              <p:par>
                                <p:cTn id="28" presetID="24" presetClass="entr" presetSubtype="0" dur="5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161" grpId="0" animBg="1"/>
      <p:bldP spid="100162" grpId="1"/>
      <p:bldP spid="100166" grpId="2" animBg="1"/>
      <p:bldP spid="100167" grpId="3"/>
      <p:bldP spid="100170" grpId="4" animBg="1"/>
      <p:bldP spid="100171" grpId="5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等线"/>
        <a:cs typeface=""/>
      </a:majorFont>
      <a:minorFont>
        <a:latin typeface="Arial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等线"/>
        <a:cs typeface=""/>
      </a:majorFont>
      <a:minorFont>
        <a:latin typeface="Arial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524</Words>
  <Application>Microsoft Macintosh PowerPoint</Application>
  <PresentationFormat>宽屏</PresentationFormat>
  <Paragraphs>110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OfficeCLI</dc:creator>
  <cp:lastModifiedBy>YAHA 学堂</cp:lastModifiedBy>
  <cp:revision>2</cp:revision>
  <dcterms:created xsi:type="dcterms:W3CDTF">2026-07-30T02:47:33Z</dcterms:created>
  <dcterms:modified xsi:type="dcterms:W3CDTF">2026-07-30T03:15:53Z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1.0.143</vt:lpwstr>
  </property>
  <property fmtid="{D5CDD505-2E9C-101B-9397-08002B2CF9AE}" pid="3" name="OfficeCLI.LastModified">
    <vt:lpwstr>2026-07-30T02:48:36Z</vt:lpwstr>
  </property>
</Properties>
</file>